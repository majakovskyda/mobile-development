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</p:sldIdLst>
  <p:sldSz cy="6858000" cx="9144000"/>
  <p:notesSz cx="6858000" cy="9144000"/>
  <p:embeddedFontLst>
    <p:embeddedFont>
      <p:font typeface="Arimo"/>
      <p:regular r:id="rId61"/>
      <p:bold r:id="rId62"/>
      <p:italic r:id="rId63"/>
      <p:boldItalic r:id="rId64"/>
    </p:embeddedFont>
    <p:embeddedFont>
      <p:font typeface="Tahoma"/>
      <p:regular r:id="rId65"/>
      <p:bold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D8CF6E5-B5C5-4838-A3E5-144F76ACB83D}">
  <a:tblStyle styleId="{2D8CF6E5-B5C5-4838-A3E5-144F76ACB83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Arimo-bold.fntdata"/><Relationship Id="rId61" Type="http://schemas.openxmlformats.org/officeDocument/2006/relationships/font" Target="fonts/Arimo-regular.fntdata"/><Relationship Id="rId20" Type="http://schemas.openxmlformats.org/officeDocument/2006/relationships/slide" Target="slides/slide15.xml"/><Relationship Id="rId64" Type="http://schemas.openxmlformats.org/officeDocument/2006/relationships/font" Target="fonts/Arimo-boldItalic.fntdata"/><Relationship Id="rId63" Type="http://schemas.openxmlformats.org/officeDocument/2006/relationships/font" Target="fonts/Arimo-italic.fntdata"/><Relationship Id="rId22" Type="http://schemas.openxmlformats.org/officeDocument/2006/relationships/slide" Target="slides/slide17.xml"/><Relationship Id="rId66" Type="http://schemas.openxmlformats.org/officeDocument/2006/relationships/font" Target="fonts/Tahoma-bold.fntdata"/><Relationship Id="rId21" Type="http://schemas.openxmlformats.org/officeDocument/2006/relationships/slide" Target="slides/slide16.xml"/><Relationship Id="rId65" Type="http://schemas.openxmlformats.org/officeDocument/2006/relationships/font" Target="fonts/Tahoma-regular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6efd1c4050_0_5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6efd1c4050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6efd1c4050_0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000" y="695325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:notes"/>
          <p:cNvSpPr/>
          <p:nvPr>
            <p:ph idx="2" type="sldImg"/>
          </p:nvPr>
        </p:nvSpPr>
        <p:spPr>
          <a:xfrm>
            <a:off x="1143000" y="695325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:notes"/>
          <p:cNvSpPr/>
          <p:nvPr>
            <p:ph idx="2" type="sldImg"/>
          </p:nvPr>
        </p:nvSpPr>
        <p:spPr>
          <a:xfrm>
            <a:off x="1312863" y="1027113"/>
            <a:ext cx="4933950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0" name="Google Shape;140;p14:notes"/>
          <p:cNvSpPr txBox="1"/>
          <p:nvPr>
            <p:ph idx="1" type="body"/>
          </p:nvPr>
        </p:nvSpPr>
        <p:spPr>
          <a:xfrm>
            <a:off x="1169988" y="5086350"/>
            <a:ext cx="5226050" cy="4108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6efd1c4050_0_4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6efd1c4050_0_4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6efd1c4050_0_4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6efd1c4050_0_6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6efd1c4050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6efd1c4050_0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6efd1c4050_0_7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6efd1c4050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6efd1c4050_0_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6efd1c4050_0_8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6efd1c4050_0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6efd1c4050_0_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6efd1c4050_0_252:notes"/>
          <p:cNvSpPr/>
          <p:nvPr>
            <p:ph idx="2" type="sldImg"/>
          </p:nvPr>
        </p:nvSpPr>
        <p:spPr>
          <a:xfrm>
            <a:off x="1312863" y="1027113"/>
            <a:ext cx="49338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8" name="Google Shape;188;g6efd1c4050_0_252:notes"/>
          <p:cNvSpPr txBox="1"/>
          <p:nvPr>
            <p:ph idx="1" type="body"/>
          </p:nvPr>
        </p:nvSpPr>
        <p:spPr>
          <a:xfrm>
            <a:off x="1169988" y="5086350"/>
            <a:ext cx="5226000" cy="41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6efd1c4050_0_2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6efd1c4050_0_23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6efd1c4050_0_2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6efd1c4050_0_24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6efd1c4050_0_1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6efd1c4050_0_15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6efd1c4050_0_1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6efd1c4050_0_16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6efd1c4050_0_1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6efd1c4050_0_18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6efd1c4050_0_2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6efd1c4050_0_20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6efd1c4050_0_208:notes"/>
          <p:cNvSpPr/>
          <p:nvPr>
            <p:ph idx="2" type="sldImg"/>
          </p:nvPr>
        </p:nvSpPr>
        <p:spPr>
          <a:xfrm>
            <a:off x="1312863" y="1027113"/>
            <a:ext cx="49338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2" name="Google Shape;232;g6efd1c4050_0_208:notes"/>
          <p:cNvSpPr txBox="1"/>
          <p:nvPr>
            <p:ph idx="1" type="body"/>
          </p:nvPr>
        </p:nvSpPr>
        <p:spPr>
          <a:xfrm>
            <a:off x="1169988" y="5086350"/>
            <a:ext cx="5226000" cy="41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6efd1c4050_0_213:notes"/>
          <p:cNvSpPr/>
          <p:nvPr>
            <p:ph idx="2" type="sldImg"/>
          </p:nvPr>
        </p:nvSpPr>
        <p:spPr>
          <a:xfrm>
            <a:off x="1312863" y="1027113"/>
            <a:ext cx="49338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8" name="Google Shape;238;g6efd1c4050_0_213:notes"/>
          <p:cNvSpPr txBox="1"/>
          <p:nvPr>
            <p:ph idx="1" type="body"/>
          </p:nvPr>
        </p:nvSpPr>
        <p:spPr>
          <a:xfrm>
            <a:off x="1169988" y="5086350"/>
            <a:ext cx="5226000" cy="41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6efd1c4050_0_8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6efd1c4050_0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6efd1c4050_0_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6efd1c4050_0_2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6efd1c4050_0_26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6efd1c4050_0_2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6efd1c4050_0_27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6efd1c4050_0_2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6efd1c4050_0_27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6efd1c4050_0_300:notes"/>
          <p:cNvSpPr/>
          <p:nvPr>
            <p:ph idx="2" type="sldImg"/>
          </p:nvPr>
        </p:nvSpPr>
        <p:spPr>
          <a:xfrm>
            <a:off x="1312863" y="1027113"/>
            <a:ext cx="49338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81" name="Google Shape;281;g6efd1c4050_0_300:notes"/>
          <p:cNvSpPr txBox="1"/>
          <p:nvPr>
            <p:ph idx="1" type="body"/>
          </p:nvPr>
        </p:nvSpPr>
        <p:spPr>
          <a:xfrm>
            <a:off x="1169988" y="5086350"/>
            <a:ext cx="5226000" cy="41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6efd1c4050_0_305:notes"/>
          <p:cNvSpPr/>
          <p:nvPr>
            <p:ph idx="2" type="sldImg"/>
          </p:nvPr>
        </p:nvSpPr>
        <p:spPr>
          <a:xfrm>
            <a:off x="1312863" y="1027113"/>
            <a:ext cx="49338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87" name="Google Shape;287;g6efd1c4050_0_305:notes"/>
          <p:cNvSpPr txBox="1"/>
          <p:nvPr>
            <p:ph idx="1" type="body"/>
          </p:nvPr>
        </p:nvSpPr>
        <p:spPr>
          <a:xfrm>
            <a:off x="1169988" y="5086350"/>
            <a:ext cx="5226000" cy="41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6efd1c4050_0_4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6efd1c4050_0_4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6efd1c4050_0_4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6efd1c4050_0_9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6efd1c4050_0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6efd1c4050_0_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6efd1c4050_0_2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6efd1c4050_0_28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6efd1c4050_0_2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6efd1c4050_0_28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6efd1c4050_0_2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6efd1c4050_0_29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6efd1c4050_0_320:notes"/>
          <p:cNvSpPr/>
          <p:nvPr>
            <p:ph idx="2" type="sldImg"/>
          </p:nvPr>
        </p:nvSpPr>
        <p:spPr>
          <a:xfrm>
            <a:off x="1312863" y="1027113"/>
            <a:ext cx="49338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29" name="Google Shape;329;g6efd1c4050_0_320:notes"/>
          <p:cNvSpPr txBox="1"/>
          <p:nvPr>
            <p:ph idx="1" type="body"/>
          </p:nvPr>
        </p:nvSpPr>
        <p:spPr>
          <a:xfrm>
            <a:off x="1169988" y="5086350"/>
            <a:ext cx="5226000" cy="41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6efd1c4050_0_330:notes"/>
          <p:cNvSpPr/>
          <p:nvPr>
            <p:ph idx="2" type="sldImg"/>
          </p:nvPr>
        </p:nvSpPr>
        <p:spPr>
          <a:xfrm>
            <a:off x="1312863" y="1027113"/>
            <a:ext cx="49338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35" name="Google Shape;335;g6efd1c4050_0_330:notes"/>
          <p:cNvSpPr txBox="1"/>
          <p:nvPr>
            <p:ph idx="1" type="body"/>
          </p:nvPr>
        </p:nvSpPr>
        <p:spPr>
          <a:xfrm>
            <a:off x="1169988" y="5086350"/>
            <a:ext cx="5226000" cy="41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6efd1c4050_0_335:notes"/>
          <p:cNvSpPr/>
          <p:nvPr>
            <p:ph idx="2" type="sldImg"/>
          </p:nvPr>
        </p:nvSpPr>
        <p:spPr>
          <a:xfrm>
            <a:off x="1312863" y="1027113"/>
            <a:ext cx="49338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41" name="Google Shape;341;g6efd1c4050_0_335:notes"/>
          <p:cNvSpPr txBox="1"/>
          <p:nvPr>
            <p:ph idx="1" type="body"/>
          </p:nvPr>
        </p:nvSpPr>
        <p:spPr>
          <a:xfrm>
            <a:off x="1169988" y="5086350"/>
            <a:ext cx="5226000" cy="41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6efd1c4050_0_3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47" name="Google Shape;347;g6efd1c4050_0_34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8" name="Google Shape;348;g6efd1c4050_0_3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6efd1c4050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6efd1c4050_0_34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6efd1c4050_0_3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60" name="Google Shape;360;g6efd1c4050_0_35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1" name="Google Shape;361;g6efd1c4050_0_3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6efd1c4050_0_3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67" name="Google Shape;367;g6efd1c4050_0_35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8" name="Google Shape;368;g6efd1c4050_0_3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6efd1c4050_0_10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6efd1c4050_0_1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6efd1c4050_0_1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6efd1c4050_0_1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6efd1c4050_0_1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6efd1c4050_0_1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89" name="Google Shape;389;p6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0" name="Google Shape;390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96" name="Google Shape;396;p7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7" name="Google Shape;397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05" name="Google Shape;405;p7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6" name="Google Shape;406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14" name="Google Shape;414;p7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5" name="Google Shape;415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6efd1c4050_0_36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6efd1c4050_0_3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g6efd1c4050_0_3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6efd1c4050_0_37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6efd1c4050_0_3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6efd1c4050_0_3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6efd1c4050_0_37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6efd1c4050_0_3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6efd1c4050_0_3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6efd1c4050_0_38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6efd1c4050_0_3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6efd1c4050_0_3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6efd1c4050_0_39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6efd1c4050_0_3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g6efd1c4050_0_3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6efd1c4050_0_39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6efd1c4050_0_3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g6efd1c4050_0_3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685908" y="535670"/>
            <a:ext cx="7772100" cy="12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685907" y="6246623"/>
            <a:ext cx="190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3123736" y="6246623"/>
            <a:ext cx="28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6553272" y="6246623"/>
            <a:ext cx="190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Times New Roman"/>
              <a:buNone/>
              <a:defRPr b="0" i="0" sz="162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Times New Roman"/>
              <a:buNone/>
              <a:defRPr b="0" i="0" sz="162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Times New Roman"/>
              <a:buNone/>
              <a:defRPr b="0" i="0" sz="162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Times New Roman"/>
              <a:buNone/>
              <a:defRPr b="0" i="0" sz="162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Times New Roman"/>
              <a:buNone/>
              <a:defRPr b="0" i="0" sz="162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Times New Roman"/>
              <a:buNone/>
              <a:defRPr b="0" i="0" sz="162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Times New Roman"/>
              <a:buNone/>
              <a:defRPr b="0" i="0" sz="162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Times New Roman"/>
              <a:buNone/>
              <a:defRPr b="0" i="0" sz="162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Times New Roman"/>
              <a:buNone/>
              <a:defRPr b="0" i="0" sz="162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, текст и объект" type="txAndObj">
  <p:cSld name="TEXT_AND_OBJEC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57200" y="1981200"/>
            <a:ext cx="4038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4648200" y="1981200"/>
            <a:ext cx="4038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1" type="ftr"/>
          </p:nvPr>
        </p:nvSpPr>
        <p:spPr>
          <a:xfrm>
            <a:off x="468314" y="6453188"/>
            <a:ext cx="55515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6553200" y="6453188"/>
            <a:ext cx="2133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457200" y="6245225"/>
            <a:ext cx="21336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628650" y="1825625"/>
            <a:ext cx="3886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2" type="body"/>
          </p:nvPr>
        </p:nvSpPr>
        <p:spPr>
          <a:xfrm>
            <a:off x="4629150" y="1825625"/>
            <a:ext cx="3886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таблица" type="tbl">
  <p:cSld name="TABLE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1" type="ftr"/>
          </p:nvPr>
        </p:nvSpPr>
        <p:spPr>
          <a:xfrm>
            <a:off x="468314" y="6453188"/>
            <a:ext cx="55515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6553200" y="6453188"/>
            <a:ext cx="2133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3" name="Google Shape;83;p17"/>
          <p:cNvSpPr txBox="1"/>
          <p:nvPr>
            <p:ph idx="10" type="dt"/>
          </p:nvPr>
        </p:nvSpPr>
        <p:spPr>
          <a:xfrm>
            <a:off x="457200" y="6245225"/>
            <a:ext cx="21336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, текст и два объекта" type="txAndTwoObj">
  <p:cSld name="TEXT_AND_TWO_OBJECT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457200" y="1600202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2" type="body"/>
          </p:nvPr>
        </p:nvSpPr>
        <p:spPr>
          <a:xfrm>
            <a:off x="4648200" y="1600200"/>
            <a:ext cx="4038600" cy="21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3" type="body"/>
          </p:nvPr>
        </p:nvSpPr>
        <p:spPr>
          <a:xfrm>
            <a:off x="4648200" y="3938590"/>
            <a:ext cx="4038600" cy="21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0" type="dt"/>
          </p:nvPr>
        </p:nvSpPr>
        <p:spPr>
          <a:xfrm>
            <a:off x="457200" y="6245225"/>
            <a:ext cx="21336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1" type="ftr"/>
          </p:nvPr>
        </p:nvSpPr>
        <p:spPr>
          <a:xfrm>
            <a:off x="3124200" y="6245225"/>
            <a:ext cx="28956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6553200" y="6245225"/>
            <a:ext cx="21336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ru-RU"/>
              <a:t>Основы языка Java</a:t>
            </a:r>
            <a:endParaRPr/>
          </a:p>
        </p:txBody>
      </p:sp>
      <p:sp>
        <p:nvSpPr>
          <p:cNvPr id="97" name="Google Shape;97;p19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Особенности языка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Объектно-ориентированный язык общего назначения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-RU"/>
              <a:t>С-подобный синтаксис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-RU"/>
              <a:t>Разработан компанией Sun (Oracle)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-RU"/>
              <a:t>Существуют бесплатные инструменты разработки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-RU"/>
              <a:t>Компиляция в байт-код, использование нативного кода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-RU"/>
              <a:t>Виртуальные машины доступны для всех распространенных платформ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-RU"/>
              <a:t>Развитая модельная и объектно-ориентированная система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-RU"/>
              <a:t>Автоматическая сборка мусора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-RU"/>
              <a:t>Явная статическая сильная типизация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39">
                <a:latin typeface="Arial"/>
                <a:ea typeface="Arial"/>
                <a:cs typeface="Arial"/>
                <a:sym typeface="Arial"/>
              </a:rPr>
              <a:t>История версий Java</a:t>
            </a:r>
            <a:endParaRPr sz="3239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Разработка Java началась в 1990 году, первая официальная версия — Java 1.0, — была выпущена только 21 января 1996 года.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-RU"/>
              <a:t>Последняя версия - Java SE 11, 25 сентября 2018 года.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-RU"/>
              <a:t>Редакции Java: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Java SE — Java Standard Edition.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Java EE — Java Enterprise Edition.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Java ME — Java Micro Edition;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Java Card.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-RU"/>
              <a:t>Язык Java активно используется для создания мобильных приложений под операционную систему Android. При этом программы компилируются в нестандартный байт-код, для использования их виртуальной машиной Dalvik (начиная с Android 5.0 Lollipop  -  ART). Для такой компиляции используется Android SDK (Software Development Kit), разработанный компанией Google.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Цикл разработки и компиляции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865" y="1536625"/>
            <a:ext cx="7692266" cy="455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Запуск и исполнение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112" y="1536627"/>
            <a:ext cx="7437778" cy="455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39"/>
              <a:t>Инструменты разработки</a:t>
            </a:r>
            <a:endParaRPr sz="3239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JVM - виртуальная машина Java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-RU"/>
              <a:t>JRE - среда выполнение программ на Java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-RU"/>
              <a:t>JDK - набор инструментов для разработки программ на Java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-RU"/>
              <a:t>Популярные IDE: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NetBeans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Eclipse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IntelliJ IDEA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Android Studio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Первая программа (Hello world)</a:t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475000" y="1398196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75"/>
              <a:buFont typeface="Noto Sans Symbols"/>
              <a:buNone/>
            </a:pPr>
            <a:r>
              <a:rPr b="1" lang="ru-RU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 file Hello.java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75"/>
              <a:buFont typeface="Noto Sans Symbols"/>
              <a:buNone/>
            </a:pPr>
            <a:r>
              <a:rPr b="1" lang="ru-RU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public class Hello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75"/>
              <a:buFont typeface="Noto Sans Symbols"/>
              <a:buNone/>
            </a:pPr>
            <a:r>
              <a:rPr b="1" lang="ru-RU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public static void main( String args[]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75"/>
              <a:buFont typeface="Noto Sans Symbols"/>
              <a:buNone/>
            </a:pPr>
            <a:r>
              <a:rPr b="1" lang="ru-RU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75"/>
              <a:buFont typeface="Noto Sans Symbols"/>
              <a:buNone/>
            </a:pPr>
            <a:r>
              <a:rPr b="1" lang="ru-RU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	System.out.println(“Hello World!”);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75"/>
              <a:buFont typeface="Noto Sans Symbols"/>
              <a:buNone/>
            </a:pPr>
            <a:r>
              <a:rPr b="1" lang="ru-RU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	System.out.println(“My arguments:”);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75"/>
              <a:buFont typeface="Noto Sans Symbols"/>
              <a:buNone/>
            </a:pPr>
            <a:r>
              <a:rPr b="1" lang="ru-RU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	for (int i = 0; i &lt; args.length; i++)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75"/>
              <a:buFont typeface="Noto Sans Symbols"/>
              <a:buNone/>
            </a:pPr>
            <a:r>
              <a:rPr b="1" lang="ru-RU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	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75"/>
              <a:buFont typeface="Noto Sans Symbols"/>
              <a:buNone/>
            </a:pPr>
            <a:r>
              <a:rPr b="1" lang="ru-RU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	   System.out.println(“ arg[”+i+”] :“+args[i]);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75"/>
              <a:buFont typeface="Noto Sans Symbols"/>
              <a:buNone/>
            </a:pPr>
            <a:r>
              <a:rPr b="1" lang="ru-RU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	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75"/>
              <a:buFont typeface="Noto Sans Symbols"/>
              <a:buNone/>
            </a:pPr>
            <a:r>
              <a:rPr b="1" lang="ru-RU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	System.out.println(“Good bye!”);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75"/>
              <a:buFont typeface="Noto Sans Symbols"/>
              <a:buNone/>
            </a:pPr>
            <a:r>
              <a:rPr b="1" lang="ru-RU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1600"/>
              </a:spcAft>
              <a:buClr>
                <a:schemeClr val="dk2"/>
              </a:buClr>
              <a:buSzPts val="1275"/>
              <a:buFont typeface="Noto Sans Symbols"/>
              <a:buNone/>
            </a:pPr>
            <a:r>
              <a:rPr b="1" lang="ru-RU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1277545" y="5994692"/>
            <a:ext cx="610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C:\...&gt;javac Hello.java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C:\...&gt;java Hello one two three four five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Базовые вещи</a:t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/>
              <a:t>Комментарии в программе на Java – аналогично С.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/>
              <a:t>Литералы – как в С.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/>
              <a:t>Объявления переменных – как в С, но лучше.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/>
              <a:t>Типы данных.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/>
              <a:t>Области видимости имен.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Char char="●"/>
            </a:pPr>
            <a:r>
              <a:rPr lang="ru-RU"/>
              <a:t>Константы, именование констант, использование символических имен вместо литералов.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396025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ru-RU"/>
              <a:t>Комментарии</a:t>
            </a:r>
            <a:endParaRPr/>
          </a:p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/>
              <a:t>Типы комментариев в Java: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/*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Многострочный комментарий 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*/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// Однострочный комментарий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/**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Документирующий комментарий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*/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400"/>
              <a:buNone/>
            </a:pPr>
            <a:r>
              <a:rPr lang="ru-RU"/>
              <a:t>	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Текстовый вывод в консоль</a:t>
            </a:r>
            <a:endParaRPr/>
          </a:p>
        </p:txBody>
      </p:sp>
      <p:sp>
        <p:nvSpPr>
          <p:cNvPr id="156" name="Google Shape;156;p2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System.out.print(“Jag vill bo “);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System.out.println(“i en svamp“);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System.out.println(“Annars får jag kramp“);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int a;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a = 6 * 7;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System.out.println(“6 * 7 = “ + a);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/>
              <a:t>Ключевые слова Java</a:t>
            </a:r>
            <a:endParaRPr sz="2400"/>
          </a:p>
        </p:txBody>
      </p:sp>
      <p:pic>
        <p:nvPicPr>
          <p:cNvPr descr="slide6.jpg" id="162" name="Google Shape;16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466" y="1754981"/>
            <a:ext cx="6257925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9"/>
          <p:cNvSpPr/>
          <p:nvPr/>
        </p:nvSpPr>
        <p:spPr>
          <a:xfrm>
            <a:off x="2465786" y="4670823"/>
            <a:ext cx="4212431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Зарезервированные литералы: null, true и false</a:t>
            </a:r>
            <a:endParaRPr sz="13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Объявления переменных</a:t>
            </a:r>
            <a:endParaRPr/>
          </a:p>
        </p:txBody>
      </p:sp>
      <p:sp>
        <p:nvSpPr>
          <p:cNvPr id="171" name="Google Shape;171;p3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int m, n; // Two integer variables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double x, y; // Two real coordinates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boolean b; // Either ‘true’ or ‘false’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char ch; // A character, such as ‘P’ or ‘@’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double f = 0.57;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boolean flag = true;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Арифметические операторы</a:t>
            </a:r>
            <a:endParaRPr/>
          </a:p>
        </p:txBody>
      </p:sp>
      <p:sp>
        <p:nvSpPr>
          <p:cNvPr id="178" name="Google Shape;178;p3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n = 3 * (5 + 2);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x = y / 3.141592653;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n = m % 8; // Modulo, i.e. n is now (m mod 8)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b = true;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ch = ‘x‘;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double f;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f = 1 / 3; // f is now 0.0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f = 1.0 / 3.0; // f is now 0.33333333...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Приведение типов (кастинг)</a:t>
            </a:r>
            <a:endParaRPr/>
          </a:p>
        </p:txBody>
      </p:sp>
      <p:sp>
        <p:nvSpPr>
          <p:cNvPr id="185" name="Google Shape;185;p3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Java не поддерживает автоматическое приведение типов с потерей информации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double radians;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int degrees;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...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degrees = radians * 180 / 3.141592653; // Error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degrees = (int) (radians * 180 / 3.141592653); // OK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Примитивные типы данных</a:t>
            </a:r>
            <a:endParaRPr/>
          </a:p>
        </p:txBody>
      </p:sp>
      <p:sp>
        <p:nvSpPr>
          <p:cNvPr id="191" name="Google Shape;191;p3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9"/>
              <a:buChar char="●"/>
            </a:pPr>
            <a:r>
              <a:rPr lang="ru-RU" sz="2109"/>
              <a:t>byte, 8 бит: -128..127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9"/>
              <a:buChar char="●"/>
            </a:pPr>
            <a:r>
              <a:rPr lang="ru-RU" sz="2109"/>
              <a:t>short, 16 бит: -32,768..32,767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9"/>
              <a:buChar char="●"/>
            </a:pPr>
            <a:r>
              <a:rPr lang="ru-RU" sz="2109"/>
              <a:t>int, 32 бита: -2,147,483,648..2,147,483,647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9"/>
              <a:buChar char="●"/>
            </a:pPr>
            <a:r>
              <a:rPr lang="ru-RU" sz="2109"/>
              <a:t>long, 64 бита: -9,223,372,036,854,775,808..9,223,372,036,854,775,807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9"/>
              <a:buChar char="●"/>
            </a:pPr>
            <a:r>
              <a:rPr lang="ru-RU" sz="2109"/>
              <a:t>float, 32 бита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9"/>
              <a:buChar char="●"/>
            </a:pPr>
            <a:r>
              <a:rPr lang="ru-RU" sz="2109"/>
              <a:t>double, 64 бита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9"/>
              <a:buChar char="●"/>
            </a:pPr>
            <a:r>
              <a:rPr lang="ru-RU" sz="2109"/>
              <a:t>boolean: true и false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109"/>
              <a:buChar char="●"/>
            </a:pPr>
            <a:r>
              <a:rPr lang="ru-RU" sz="2109"/>
              <a:t>char: 16 бит, Unicode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4"/>
          <p:cNvSpPr txBox="1"/>
          <p:nvPr/>
        </p:nvSpPr>
        <p:spPr>
          <a:xfrm>
            <a:off x="468313" y="476250"/>
            <a:ext cx="82803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Логический тип – </a:t>
            </a:r>
            <a:r>
              <a:rPr b="0" i="0" lang="ru-RU" sz="3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boolean</a:t>
            </a:r>
            <a:br>
              <a:rPr b="0" i="0" lang="ru-RU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4"/>
          <p:cNvSpPr/>
          <p:nvPr/>
        </p:nvSpPr>
        <p:spPr>
          <a:xfrm>
            <a:off x="971550" y="1628775"/>
            <a:ext cx="71295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Главная особенность примитивного типа </a:t>
            </a:r>
            <a:r>
              <a:rPr b="0" i="0" lang="ru-RU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boolean: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cуществует только </a:t>
            </a:r>
            <a:r>
              <a:rPr b="0" i="0" lang="ru-RU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два</a:t>
            </a: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возможных значения – </a:t>
            </a:r>
            <a:r>
              <a:rPr b="0" i="0" lang="ru-RU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b="0" i="0" lang="ru-RU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Пример: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boolean truth = true;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Данная инструкция объявляет переменную c именем </a:t>
            </a:r>
            <a:r>
              <a:rPr b="0" i="0" lang="ru-RU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truth</a:t>
            </a: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примитивного типа </a:t>
            </a:r>
            <a:r>
              <a:rPr b="0" i="0" lang="ru-RU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boolean</a:t>
            </a: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и присваивает ей значение </a:t>
            </a:r>
            <a:r>
              <a:rPr b="0" i="0" lang="ru-RU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5"/>
          <p:cNvSpPr txBox="1"/>
          <p:nvPr/>
        </p:nvSpPr>
        <p:spPr>
          <a:xfrm>
            <a:off x="468313" y="476250"/>
            <a:ext cx="82803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Символьный тип – </a:t>
            </a:r>
            <a:r>
              <a:rPr b="0" i="0" lang="ru-RU" sz="3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br>
              <a:rPr b="0" i="0" lang="ru-RU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5"/>
          <p:cNvSpPr/>
          <p:nvPr/>
        </p:nvSpPr>
        <p:spPr>
          <a:xfrm>
            <a:off x="971550" y="1628775"/>
            <a:ext cx="71295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Особенности примитивного типа </a:t>
            </a:r>
            <a:r>
              <a:rPr b="0" i="0" lang="ru-RU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char: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Представляет собой 16-битное значение в кодировке Unicode;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Литералы данного примитивного типа должны содержаться  в одинарных кавычках (’ ’).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Пример: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char sym1 = ’a’;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char sym2 = ’\u03A6’; // ’\u03A6’ is the Greek letter phi [Φ]</a:t>
            </a:r>
            <a:endParaRPr b="0" i="0" sz="18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char sym3 = ’\t’;</a:t>
            </a:r>
            <a:endParaRPr b="0" i="0" sz="18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char sym4 = ’\n’;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6"/>
          <p:cNvSpPr txBox="1"/>
          <p:nvPr/>
        </p:nvSpPr>
        <p:spPr>
          <a:xfrm>
            <a:off x="468313" y="476250"/>
            <a:ext cx="82803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Строковый тип – </a:t>
            </a:r>
            <a:r>
              <a:rPr b="0" i="0" lang="ru-RU" sz="3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br>
              <a:rPr b="0" i="0" lang="ru-RU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6"/>
          <p:cNvSpPr/>
          <p:nvPr/>
        </p:nvSpPr>
        <p:spPr>
          <a:xfrm>
            <a:off x="971550" y="1341438"/>
            <a:ext cx="7129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Является не примитивным типом, а классом.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Особенности строкового типа </a:t>
            </a:r>
            <a:r>
              <a:rPr b="0" i="0" lang="ru-RU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String: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Литералы строкового типа должны содержаться в двойных кавычках (" ").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Пример: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String str0 = "";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String str1 = "Good morning! ";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String str2 = "Time to get up!!!";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String str3 = str1 + str2 + "\n";</a:t>
            </a:r>
            <a:endParaRPr/>
          </a:p>
        </p:txBody>
      </p:sp>
      <p:sp>
        <p:nvSpPr>
          <p:cNvPr id="210" name="Google Shape;210;p3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7"/>
          <p:cNvSpPr/>
          <p:nvPr/>
        </p:nvSpPr>
        <p:spPr>
          <a:xfrm>
            <a:off x="1042988" y="1412875"/>
            <a:ext cx="7129500" cy="50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Особенности примитивных целочисленных типов: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Целочисленные типы могут задаваться литералами в трех формах: десятичной (например, 2), восьмеричной (например, 02) и шестнадцатеричной (например, 0x2);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Литералы имеют по умолчанию примитивный тип int;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(например, 1, 10, 100, 10000, 1000000);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Литералы имеют примитивный тип long, если последним символом является l или L;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(например, 1l, 10L, 100l, 10000L, 1000000l);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Пример;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byte x = 15;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short y = 046;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int z = 0x153;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long k = 1000000000000L;</a:t>
            </a:r>
            <a:endParaRPr/>
          </a:p>
        </p:txBody>
      </p:sp>
      <p:sp>
        <p:nvSpPr>
          <p:cNvPr id="217" name="Google Shape;217;p3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8"/>
          <p:cNvSpPr txBox="1"/>
          <p:nvPr/>
        </p:nvSpPr>
        <p:spPr>
          <a:xfrm>
            <a:off x="468313" y="476250"/>
            <a:ext cx="82803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Типы с плавающей точкой –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 New"/>
              <a:buNone/>
            </a:pPr>
            <a:r>
              <a:rPr b="0" i="0" lang="ru-RU" sz="3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b="0" i="0" lang="ru-RU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b="0" i="0" lang="ru-RU" sz="3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br>
              <a:rPr b="0" i="0" lang="ru-RU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8"/>
          <p:cNvSpPr/>
          <p:nvPr/>
        </p:nvSpPr>
        <p:spPr>
          <a:xfrm>
            <a:off x="1116013" y="1557338"/>
            <a:ext cx="7129500" cy="3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Особенности примитивных типов c плавающей точкой: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Типы с плавающей точкой могут задаваться литералами, которые либо содержат десятичную запятую, либо записаны в т.н. экспоненциальной форме (через символ E или e), либо заканчиваются на символы (F или f – тип float) или символы (D или d) – тип double;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Пример;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double pi = 3.14;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double i = 6.02E23;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float j = 2.718f;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double k = 123.4E+306D;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Область видимости (Scope)</a:t>
            </a:r>
            <a:endParaRPr/>
          </a:p>
        </p:txBody>
      </p:sp>
      <p:pic>
        <p:nvPicPr>
          <p:cNvPr id="229" name="Google Shape;229;p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Переменные</a:t>
            </a:r>
            <a:endParaRPr/>
          </a:p>
        </p:txBody>
      </p:sp>
      <p:sp>
        <p:nvSpPr>
          <p:cNvPr id="235" name="Google Shape;235;p4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/>
              <a:t>В Java  можно объявлять переменные в любом месте блока, но до использования.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/>
              <a:t>Объявляйте переменные как можно ближе к точке их использования.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/>
              <a:t>Инициализируйте переменные при объявлении.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Char char="●"/>
            </a:pPr>
            <a:r>
              <a:rPr lang="ru-RU"/>
              <a:t>Делайте время жизни переменных как можно короче.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Переменные</a:t>
            </a:r>
            <a:endParaRPr/>
          </a:p>
        </p:txBody>
      </p:sp>
      <p:sp>
        <p:nvSpPr>
          <p:cNvPr id="241" name="Google Shape;241;p4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/>
              <a:t>Используйте каждую переменную только с одной целью.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/>
              <a:t>Имя переменной должно точно и полно описывать сущность, представляемую переменной.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/>
              <a:t>Именуйте индексы циклов i, j, k.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Char char="●"/>
            </a:pPr>
            <a:r>
              <a:rPr b="1" i="1" lang="ru-RU"/>
              <a:t>Но</a:t>
            </a:r>
            <a:r>
              <a:rPr lang="ru-RU"/>
              <a:t>: при использовании сложных данных, например, многомерных массивов давайте содержательные имена индексам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ru-RU" sz="2400"/>
              <a:t>Инструкции, блоки, пробельные символы</a:t>
            </a:r>
            <a:endParaRPr/>
          </a:p>
        </p:txBody>
      </p:sp>
      <p:sp>
        <p:nvSpPr>
          <p:cNvPr id="247" name="Google Shape;247;p4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ru-RU"/>
              <a:t>Инструкция – это одна или несколько строк кода, оканчивающихся символом точки с запятой (;):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70C0"/>
              </a:buClr>
              <a:buSzPts val="1500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   totals = a + b + c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70C0"/>
              </a:buClr>
              <a:buSzPts val="1500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   + d + e + f;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ru-RU"/>
              <a:t>Блок – это набор из нуля или нескольких инструкций, находящихся внутри открытой и закрытой фигурных скобок: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70C0"/>
              </a:buClr>
              <a:buSzPts val="1500"/>
              <a:buNone/>
            </a:pPr>
            <a:r>
              <a:rPr lang="ru-RU"/>
              <a:t> </a:t>
            </a: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70C0"/>
              </a:buClr>
              <a:buSzPts val="1500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  x = y + 1;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70C0"/>
              </a:buClr>
              <a:buSzPts val="1500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  y = x + 1;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rgbClr val="0070C0"/>
              </a:buClr>
              <a:buSzPts val="1500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/>
              <a:t>Инструкции, блоки, пробельные символы</a:t>
            </a:r>
            <a:endParaRPr/>
          </a:p>
        </p:txBody>
      </p:sp>
      <p:sp>
        <p:nvSpPr>
          <p:cNvPr id="253" name="Google Shape;253;p4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ru-RU"/>
              <a:t>•  Java не накладывает ограничений на использование пробельных символов (Space, Tab, Enter):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70C0"/>
              </a:buClr>
              <a:buSzPts val="1500"/>
              <a:buFont typeface="Arial"/>
              <a:buNone/>
            </a:pPr>
            <a:r>
              <a:rPr lang="ru-RU"/>
              <a:t>    Например: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70C0"/>
              </a:buClr>
              <a:buSzPts val="135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    {int x;x=23*54;}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lang="ru-RU"/>
              <a:t>    является эквивалентом: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70C0"/>
              </a:buClr>
              <a:buSzPts val="135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35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        int x;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35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        x = 23 * 54;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35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Условный и логические операторы</a:t>
            </a:r>
            <a:endParaRPr/>
          </a:p>
        </p:txBody>
      </p:sp>
      <p:sp>
        <p:nvSpPr>
          <p:cNvPr id="260" name="Google Shape;260;p4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if (x != 0)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y = 3.0 / x;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x = x + 1;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} else 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y = 1;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int x, y;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boolean b;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...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if ((x &lt;= 9 || y &gt; 3) &amp;&amp; !b)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b = true;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ru-RU" sz="3000"/>
              <a:t>Операторы сравнения</a:t>
            </a:r>
            <a:endParaRPr sz="3000"/>
          </a:p>
        </p:txBody>
      </p:sp>
      <p:graphicFrame>
        <p:nvGraphicFramePr>
          <p:cNvPr id="266" name="Google Shape;266;p45"/>
          <p:cNvGraphicFramePr/>
          <p:nvPr/>
        </p:nvGraphicFramePr>
        <p:xfrm>
          <a:off x="897777" y="21114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{2D8CF6E5-B5C5-4838-A3E5-144F76ACB83D}</a:tableStyleId>
              </a:tblPr>
              <a:tblGrid>
                <a:gridCol w="1187750"/>
                <a:gridCol w="1505250"/>
                <a:gridCol w="4788475"/>
              </a:tblGrid>
              <a:tr h="487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urier New"/>
                        <a:buNone/>
                      </a:pPr>
                      <a:r>
                        <a:rPr b="1" i="0" lang="ru-RU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Operator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urier New"/>
                        <a:buNone/>
                      </a:pPr>
                      <a:r>
                        <a:rPr b="1" i="0" lang="ru-RU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Use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urier New"/>
                        <a:buNone/>
                      </a:pPr>
                      <a:r>
                        <a:rPr b="1" i="0" lang="ru-RU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Description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urier New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&gt;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urier New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op1 &gt; op2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urier New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Returns true if op1 is greater than op2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urier New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&gt;=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urier New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op1 &gt;= op2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urier New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Returns true if op1 is greater than or equal to op2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7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urier New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urier New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op1 &lt; op2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urier New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Returns true if op1 is less than op2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urier New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&lt;=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urier New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op1 &lt;= op2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urier New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Returns true if op1 is less than or equal to op2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urier New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==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urier New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op1 == op2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urier New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Returns true if op1 and op2 are equal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7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urier New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!=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urier New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op1 != op2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urier New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Returns true if op1 and op2 are not equal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Логические операторы</a:t>
            </a:r>
            <a:endParaRPr/>
          </a:p>
        </p:txBody>
      </p:sp>
      <p:graphicFrame>
        <p:nvGraphicFramePr>
          <p:cNvPr id="272" name="Google Shape;272;p46"/>
          <p:cNvGraphicFramePr/>
          <p:nvPr/>
        </p:nvGraphicFramePr>
        <p:xfrm>
          <a:off x="1485900" y="2343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{2D8CF6E5-B5C5-4838-A3E5-144F76ACB83D}</a:tableStyleId>
              </a:tblPr>
              <a:tblGrid>
                <a:gridCol w="817950"/>
                <a:gridCol w="1026325"/>
                <a:gridCol w="4327925"/>
              </a:tblGrid>
              <a:tr h="372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ourier New"/>
                        <a:buNone/>
                      </a:pPr>
                      <a:r>
                        <a:rPr b="1" i="0" lang="ru-RU" sz="11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Operator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ourier New"/>
                        <a:buNone/>
                      </a:pPr>
                      <a:r>
                        <a:rPr b="1" i="0" lang="ru-RU" sz="11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Use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ourier New"/>
                        <a:buNone/>
                      </a:pPr>
                      <a:r>
                        <a:rPr b="1" i="0" lang="ru-RU" sz="11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Description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ourier New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&amp;&amp;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ourier New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op1 &amp;&amp; op2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ourier New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Returns true if op1 and op2 are both true; conditionally evaluates op2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ourier New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||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ourier New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op1 || op2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ourier New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Returns true if either op1 or op2 is true; conditionally evaluates op2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ourier New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!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ourier New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!op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ourier New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Returns true if op is false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ourier New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&amp;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ourier New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op1 &amp; op2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ourier New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Returns true if op1 and op2 are both boolean and both true; always evaluates op1 and op2; if both operands are numbers, performs bitwise AND operation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ourier New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|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ourier New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op1 | op2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ourier New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Returns true if both op1 and op2 are boolean and either op1 or op2 is true; always evaluates op1 and op2; if both operands are numbers, performs bitwise inclusive OR operation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ourier New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^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ourier New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op1 ^ op2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ourier New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Returns true if op1 and op2 are different — that is, if one or the other of the operands, but not both, is true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Приоритет операторов</a:t>
            </a:r>
            <a:endParaRPr/>
          </a:p>
        </p:txBody>
      </p:sp>
      <p:graphicFrame>
        <p:nvGraphicFramePr>
          <p:cNvPr id="278" name="Google Shape;278;p47"/>
          <p:cNvGraphicFramePr/>
          <p:nvPr/>
        </p:nvGraphicFramePr>
        <p:xfrm>
          <a:off x="1494235" y="21324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{2D8CF6E5-B5C5-4838-A3E5-144F76ACB83D}</a:tableStyleId>
              </a:tblPr>
              <a:tblGrid>
                <a:gridCol w="2965850"/>
                <a:gridCol w="320635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ru-RU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Operators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ru-RU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Precedence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postfix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mo"/>
                        <a:buNone/>
                      </a:pPr>
                      <a:r>
                        <a:rPr b="0" i="1" lang="ru-RU" sz="11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expr</a:t>
                      </a: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++ </a:t>
                      </a:r>
                      <a:r>
                        <a:rPr b="0" i="1" lang="ru-RU" sz="11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expr</a:t>
                      </a: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--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unary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mo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++</a:t>
                      </a:r>
                      <a:r>
                        <a:rPr b="0" i="1" lang="ru-RU" sz="11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expr</a:t>
                      </a: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--</a:t>
                      </a:r>
                      <a:r>
                        <a:rPr b="0" i="1" lang="ru-RU" sz="11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expr</a:t>
                      </a: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+</a:t>
                      </a:r>
                      <a:r>
                        <a:rPr b="0" i="1" lang="ru-RU" sz="11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expr</a:t>
                      </a: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-</a:t>
                      </a:r>
                      <a:r>
                        <a:rPr b="0" i="1" lang="ru-RU" sz="11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expr</a:t>
                      </a: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~ !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multiplicative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mo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* / %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additive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mo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+ -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shift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mo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&lt;&lt; &gt;&gt; &gt;&gt;&gt;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relational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mo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&lt; &gt; &lt;= &gt;= instanceof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equality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mo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== !=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bitwise AND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mo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&amp;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bitwise exclusive OR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mo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^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bitwise inclusive OR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mo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|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logical AND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mo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&amp;&amp;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logical OR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mo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||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conditional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mo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? :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assignment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mo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= += -= *= /= %= &amp;= ^= |= &lt;&lt;= &gt;&gt;= &gt;&gt;&gt;=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Оператор switch</a:t>
            </a:r>
            <a:endParaRPr/>
          </a:p>
        </p:txBody>
      </p:sp>
      <p:sp>
        <p:nvSpPr>
          <p:cNvPr id="284" name="Google Shape;284;p4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9"/>
              <a:buNone/>
            </a:pPr>
            <a:r>
              <a:rPr b="1" lang="ru-RU" sz="2109">
                <a:latin typeface="Courier New"/>
                <a:ea typeface="Courier New"/>
                <a:cs typeface="Courier New"/>
                <a:sym typeface="Courier New"/>
              </a:rPr>
              <a:t>switch (&lt;выражение&gt;) {</a:t>
            </a:r>
            <a:endParaRPr/>
          </a:p>
          <a:p>
            <a:pPr indent="-228600" lvl="0" marL="228600" rtl="0" algn="l">
              <a:lnSpc>
                <a:spcPct val="89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9"/>
              <a:buNone/>
            </a:pPr>
            <a:r>
              <a:rPr b="1" lang="ru-RU" sz="2109">
                <a:latin typeface="Courier New"/>
                <a:ea typeface="Courier New"/>
                <a:cs typeface="Courier New"/>
                <a:sym typeface="Courier New"/>
              </a:rPr>
              <a:t>    case &lt;конст. выр&gt;:</a:t>
            </a:r>
            <a:endParaRPr/>
          </a:p>
          <a:p>
            <a:pPr indent="-228600" lvl="0" marL="228600" rtl="0" algn="l">
              <a:lnSpc>
                <a:spcPct val="89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9"/>
              <a:buNone/>
            </a:pPr>
            <a:r>
              <a:rPr b="1" lang="ru-RU" sz="2109">
                <a:latin typeface="Courier New"/>
                <a:ea typeface="Courier New"/>
                <a:cs typeface="Courier New"/>
                <a:sym typeface="Courier New"/>
              </a:rPr>
              <a:t>        &lt;операторы&gt;</a:t>
            </a:r>
            <a:endParaRPr/>
          </a:p>
          <a:p>
            <a:pPr indent="-228600" lvl="0" marL="228600" rtl="0" algn="l">
              <a:lnSpc>
                <a:spcPct val="89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9"/>
              <a:buNone/>
            </a:pPr>
            <a:r>
              <a:rPr b="1" lang="ru-RU" sz="2109">
                <a:latin typeface="Courier New"/>
                <a:ea typeface="Courier New"/>
                <a:cs typeface="Courier New"/>
                <a:sym typeface="Courier New"/>
              </a:rPr>
              <a:t>        break;</a:t>
            </a:r>
            <a:endParaRPr/>
          </a:p>
          <a:p>
            <a:pPr indent="-228600" lvl="0" marL="228600" rtl="0" algn="l">
              <a:lnSpc>
                <a:spcPct val="89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9"/>
              <a:buNone/>
            </a:pPr>
            <a:r>
              <a:rPr b="1" lang="ru-RU" sz="2109">
                <a:latin typeface="Courier New"/>
                <a:ea typeface="Courier New"/>
                <a:cs typeface="Courier New"/>
                <a:sym typeface="Courier New"/>
              </a:rPr>
              <a:t>     ...</a:t>
            </a:r>
            <a:endParaRPr/>
          </a:p>
          <a:p>
            <a:pPr indent="-228600" lvl="0" marL="228600" rtl="0" algn="l">
              <a:lnSpc>
                <a:spcPct val="89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9"/>
              <a:buNone/>
            </a:pPr>
            <a:r>
              <a:rPr b="1" lang="ru-RU" sz="2109">
                <a:latin typeface="Courier New"/>
                <a:ea typeface="Courier New"/>
                <a:cs typeface="Courier New"/>
                <a:sym typeface="Courier New"/>
              </a:rPr>
              <a:t>    case &lt;конст. выр&gt;:</a:t>
            </a:r>
            <a:endParaRPr/>
          </a:p>
          <a:p>
            <a:pPr indent="-228600" lvl="0" marL="228600" rtl="0" algn="l">
              <a:lnSpc>
                <a:spcPct val="89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9"/>
              <a:buNone/>
            </a:pPr>
            <a:r>
              <a:rPr b="1" lang="ru-RU" sz="2109">
                <a:latin typeface="Courier New"/>
                <a:ea typeface="Courier New"/>
                <a:cs typeface="Courier New"/>
                <a:sym typeface="Courier New"/>
              </a:rPr>
              <a:t>        &lt;операторы&gt;</a:t>
            </a:r>
            <a:endParaRPr/>
          </a:p>
          <a:p>
            <a:pPr indent="-228600" lvl="0" marL="228600" rtl="0" algn="l">
              <a:lnSpc>
                <a:spcPct val="89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9"/>
              <a:buNone/>
            </a:pPr>
            <a:r>
              <a:rPr b="1" lang="ru-RU" sz="2109">
                <a:latin typeface="Courier New"/>
                <a:ea typeface="Courier New"/>
                <a:cs typeface="Courier New"/>
                <a:sym typeface="Courier New"/>
              </a:rPr>
              <a:t>        break;</a:t>
            </a:r>
            <a:endParaRPr/>
          </a:p>
          <a:p>
            <a:pPr indent="-228600" lvl="0" marL="228600" rtl="0" algn="l">
              <a:lnSpc>
                <a:spcPct val="89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9"/>
              <a:buNone/>
            </a:pPr>
            <a:r>
              <a:rPr b="1" lang="ru-RU" sz="2109">
                <a:latin typeface="Courier New"/>
                <a:ea typeface="Courier New"/>
                <a:cs typeface="Courier New"/>
                <a:sym typeface="Courier New"/>
              </a:rPr>
              <a:t>    default:</a:t>
            </a:r>
            <a:endParaRPr/>
          </a:p>
          <a:p>
            <a:pPr indent="-228600" lvl="0" marL="228600" rtl="0" algn="l">
              <a:lnSpc>
                <a:spcPct val="89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9"/>
              <a:buNone/>
            </a:pPr>
            <a:r>
              <a:rPr b="1" lang="ru-RU" sz="2109">
                <a:latin typeface="Courier New"/>
                <a:ea typeface="Courier New"/>
                <a:cs typeface="Courier New"/>
                <a:sym typeface="Courier New"/>
              </a:rPr>
              <a:t>        &lt;операторы&gt;</a:t>
            </a:r>
            <a:endParaRPr/>
          </a:p>
          <a:p>
            <a:pPr indent="-228600" lvl="0" marL="228600" rtl="0" algn="l">
              <a:lnSpc>
                <a:spcPct val="89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109"/>
              <a:buNone/>
            </a:pPr>
            <a:r>
              <a:rPr b="1" lang="ru-RU" sz="2109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Советы</a:t>
            </a:r>
            <a:endParaRPr/>
          </a:p>
        </p:txBody>
      </p:sp>
      <p:sp>
        <p:nvSpPr>
          <p:cNvPr id="290" name="Google Shape;290;p4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/>
              <a:t>Размещайте нормальный вариант поведения программы после if, а не после else.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/>
              <a:t>Используйте ускоренное вычисление логических выражений.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/>
              <a:t>Размещайте наиболее вероятные варианты раньше остальных.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Char char="●"/>
            </a:pPr>
            <a:r>
              <a:rPr lang="ru-RU"/>
              <a:t>Старайтесь завершать каждый case оператором break. Остерегайтесь сквозных case.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Массивы</a:t>
            </a:r>
            <a:endParaRPr/>
          </a:p>
        </p:txBody>
      </p:sp>
      <p:sp>
        <p:nvSpPr>
          <p:cNvPr id="297" name="Google Shape;297;p5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int[] someInts; // An integer array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Turtle[] turtleFarm; // An array of references to Turtles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someInts = new int[30];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turtleFarm = new Turtle[100];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int i;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for (i = 0; i &lt; someInts.length; i = i + 1)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someInts[i] = i * i;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Операторы циклов</a:t>
            </a:r>
            <a:endParaRPr/>
          </a:p>
        </p:txBody>
      </p:sp>
      <p:sp>
        <p:nvSpPr>
          <p:cNvPr id="304" name="Google Shape;304;p51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800">
                <a:latin typeface="Consolas"/>
                <a:ea typeface="Consolas"/>
                <a:cs typeface="Consolas"/>
                <a:sym typeface="Consolas"/>
              </a:rPr>
              <a:t>double sum = 0.0;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800">
                <a:latin typeface="Consolas"/>
                <a:ea typeface="Consolas"/>
                <a:cs typeface="Consolas"/>
                <a:sym typeface="Consolas"/>
              </a:rPr>
              <a:t>double term = 1.0;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800">
                <a:latin typeface="Consolas"/>
                <a:ea typeface="Consolas"/>
                <a:cs typeface="Consolas"/>
                <a:sym typeface="Consolas"/>
              </a:rPr>
              <a:t>int k = 1;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800">
                <a:latin typeface="Consolas"/>
                <a:ea typeface="Consolas"/>
                <a:cs typeface="Consolas"/>
                <a:sym typeface="Consolas"/>
              </a:rPr>
              <a:t>while (term &gt;= 0.00001) {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800">
                <a:latin typeface="Consolas"/>
                <a:ea typeface="Consolas"/>
                <a:cs typeface="Consolas"/>
                <a:sym typeface="Consolas"/>
              </a:rPr>
              <a:t>sum = sum + term;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800">
                <a:latin typeface="Consolas"/>
                <a:ea typeface="Consolas"/>
                <a:cs typeface="Consolas"/>
                <a:sym typeface="Consolas"/>
              </a:rPr>
              <a:t>term = term / k;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latin typeface="Consolas"/>
                <a:ea typeface="Consolas"/>
                <a:cs typeface="Consolas"/>
                <a:sym typeface="Consolas"/>
              </a:rPr>
              <a:t>k++; 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5" name="Google Shape;305;p51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800">
                <a:latin typeface="Consolas"/>
                <a:ea typeface="Consolas"/>
                <a:cs typeface="Consolas"/>
                <a:sym typeface="Consolas"/>
              </a:rPr>
              <a:t>int i;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800">
                <a:latin typeface="Consolas"/>
                <a:ea typeface="Consolas"/>
                <a:cs typeface="Consolas"/>
                <a:sym typeface="Consolas"/>
              </a:rPr>
              <a:t>double sum = 0.0;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800">
                <a:latin typeface="Consolas"/>
                <a:ea typeface="Consolas"/>
                <a:cs typeface="Consolas"/>
                <a:sym typeface="Consolas"/>
              </a:rPr>
              <a:t>for (i = 1; i &lt;= 100; i++) {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800">
                <a:latin typeface="Consolas"/>
                <a:ea typeface="Consolas"/>
                <a:cs typeface="Consolas"/>
                <a:sym typeface="Consolas"/>
              </a:rPr>
              <a:t>sum = sum + 1.0 / i;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latin typeface="Consolas"/>
                <a:ea typeface="Consolas"/>
                <a:cs typeface="Consolas"/>
                <a:sym typeface="Consolas"/>
              </a:rPr>
              <a:t>i = i + 1;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latin typeface="Consolas"/>
                <a:ea typeface="Consolas"/>
                <a:cs typeface="Consolas"/>
                <a:sym typeface="Consolas"/>
              </a:rPr>
              <a:t>i++;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latin typeface="Consolas"/>
                <a:ea typeface="Consolas"/>
                <a:cs typeface="Consolas"/>
                <a:sym typeface="Consolas"/>
              </a:rPr>
              <a:t>++i;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latin typeface="Consolas"/>
                <a:ea typeface="Consolas"/>
                <a:cs typeface="Consolas"/>
                <a:sym typeface="Consolas"/>
              </a:rPr>
              <a:t>i += 1;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800">
                <a:latin typeface="Consolas"/>
                <a:ea typeface="Consolas"/>
                <a:cs typeface="Consolas"/>
                <a:sym typeface="Consolas"/>
              </a:rPr>
              <a:t>i=5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800">
                <a:latin typeface="Consolas"/>
                <a:ea typeface="Consolas"/>
                <a:cs typeface="Consolas"/>
                <a:sym typeface="Consolas"/>
              </a:rPr>
              <a:t>i = i++ + ++i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ru-RU" sz="3000"/>
              <a:t>Операторы </a:t>
            </a:r>
            <a:r>
              <a:rPr lang="ru-RU" sz="3000"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ru-RU" sz="3000"/>
              <a:t> и </a:t>
            </a:r>
            <a:r>
              <a:rPr lang="ru-RU" sz="3000">
                <a:latin typeface="Courier New"/>
                <a:ea typeface="Courier New"/>
                <a:cs typeface="Courier New"/>
                <a:sym typeface="Courier New"/>
              </a:rPr>
              <a:t>do-while</a:t>
            </a:r>
            <a:endParaRPr sz="3000"/>
          </a:p>
        </p:txBody>
      </p:sp>
      <p:sp>
        <p:nvSpPr>
          <p:cNvPr id="311" name="Google Shape;311;p5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while(expression) {</a:t>
            </a:r>
            <a:br>
              <a:rPr b="1" lang="ru-RU">
                <a:latin typeface="Consolas"/>
                <a:ea typeface="Consolas"/>
                <a:cs typeface="Consolas"/>
                <a:sym typeface="Consolas"/>
              </a:rPr>
            </a:b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    statement</a:t>
            </a:r>
            <a:br>
              <a:rPr b="1" lang="ru-RU">
                <a:latin typeface="Consolas"/>
                <a:ea typeface="Consolas"/>
                <a:cs typeface="Consolas"/>
                <a:sym typeface="Consolas"/>
              </a:rPr>
            </a:b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1350"/>
              <a:buFont typeface="Noto Sans Symbols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while (c != 'g') {</a:t>
            </a:r>
            <a:br>
              <a:rPr b="1" lang="ru-RU">
                <a:latin typeface="Consolas"/>
                <a:ea typeface="Consolas"/>
                <a:cs typeface="Consolas"/>
                <a:sym typeface="Consolas"/>
              </a:rPr>
            </a:b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copyToMe.append(c);</a:t>
            </a:r>
            <a:br>
              <a:rPr b="1" lang="ru-RU">
                <a:latin typeface="Consolas"/>
                <a:ea typeface="Consolas"/>
                <a:cs typeface="Consolas"/>
                <a:sym typeface="Consolas"/>
              </a:rPr>
            </a:b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c = copyFromMe.charAt(++i);</a:t>
            </a:r>
            <a:br>
              <a:rPr b="1" lang="ru-RU">
                <a:latin typeface="Consolas"/>
                <a:ea typeface="Consolas"/>
                <a:cs typeface="Consolas"/>
                <a:sym typeface="Consolas"/>
              </a:rPr>
            </a:b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2" name="Google Shape;312;p52"/>
          <p:cNvSpPr txBox="1"/>
          <p:nvPr>
            <p:ph idx="4294967295" type="body"/>
          </p:nvPr>
        </p:nvSpPr>
        <p:spPr>
          <a:xfrm>
            <a:off x="4629150" y="1825625"/>
            <a:ext cx="3886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do {</a:t>
            </a:r>
            <a:br>
              <a:rPr b="1" lang="ru-RU">
                <a:latin typeface="Consolas"/>
                <a:ea typeface="Consolas"/>
                <a:cs typeface="Consolas"/>
                <a:sym typeface="Consolas"/>
              </a:rPr>
            </a:b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    statement(s)</a:t>
            </a:r>
            <a:br>
              <a:rPr b="1" lang="ru-RU">
                <a:latin typeface="Consolas"/>
                <a:ea typeface="Consolas"/>
                <a:cs typeface="Consolas"/>
                <a:sym typeface="Consolas"/>
              </a:rPr>
            </a:b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} while (expression);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1350"/>
              <a:buFont typeface="Noto Sans Symbols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do {</a:t>
            </a:r>
            <a:br>
              <a:rPr b="1" lang="ru-RU">
                <a:latin typeface="Consolas"/>
                <a:ea typeface="Consolas"/>
                <a:cs typeface="Consolas"/>
                <a:sym typeface="Consolas"/>
              </a:rPr>
            </a:b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copyToMe.append(c);</a:t>
            </a:r>
            <a:br>
              <a:rPr b="1" lang="ru-RU">
                <a:latin typeface="Consolas"/>
                <a:ea typeface="Consolas"/>
                <a:cs typeface="Consolas"/>
                <a:sym typeface="Consolas"/>
              </a:rPr>
            </a:b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c = copyFromMe.charAt(++i);</a:t>
            </a:r>
            <a:br>
              <a:rPr b="1" lang="ru-RU">
                <a:latin typeface="Consolas"/>
                <a:ea typeface="Consolas"/>
                <a:cs typeface="Consolas"/>
                <a:sym typeface="Consolas"/>
              </a:rPr>
            </a:b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} while (c != 'g');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Оператор </a:t>
            </a:r>
            <a:r>
              <a:rPr lang="ru-RU"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endParaRPr/>
          </a:p>
        </p:txBody>
      </p:sp>
      <p:sp>
        <p:nvSpPr>
          <p:cNvPr id="318" name="Google Shape;318;p5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for (initialization; termination; increment) {</a:t>
            </a:r>
            <a:br>
              <a:rPr b="1" lang="ru-RU">
                <a:latin typeface="Consolas"/>
                <a:ea typeface="Consolas"/>
                <a:cs typeface="Consolas"/>
                <a:sym typeface="Consolas"/>
              </a:rPr>
            </a:b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    statement(s)</a:t>
            </a:r>
            <a:br>
              <a:rPr b="1" lang="ru-RU">
                <a:latin typeface="Consolas"/>
                <a:ea typeface="Consolas"/>
                <a:cs typeface="Consolas"/>
                <a:sym typeface="Consolas"/>
              </a:rPr>
            </a:b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for ( ; ; ) {    //infinite loop</a:t>
            </a:r>
            <a:br>
              <a:rPr b="1" lang="ru-RU">
                <a:latin typeface="Consolas"/>
                <a:ea typeface="Consolas"/>
                <a:cs typeface="Consolas"/>
                <a:sym typeface="Consolas"/>
              </a:rPr>
            </a:b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    ...</a:t>
            </a:r>
            <a:br>
              <a:rPr b="1" lang="ru-RU">
                <a:latin typeface="Consolas"/>
                <a:ea typeface="Consolas"/>
                <a:cs typeface="Consolas"/>
                <a:sym typeface="Consolas"/>
              </a:rPr>
            </a:b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1350"/>
              <a:buFont typeface="Noto Sans Symbols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for (int i = 0; i &lt; arrayOfInts.length; i++) {</a:t>
            </a:r>
            <a:br>
              <a:rPr b="1" lang="ru-RU">
                <a:latin typeface="Consolas"/>
                <a:ea typeface="Consolas"/>
                <a:cs typeface="Consolas"/>
                <a:sym typeface="Consolas"/>
              </a:rPr>
            </a:b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    System.out.print(arrayOfInts[i] + " ");</a:t>
            </a:r>
            <a:br>
              <a:rPr b="1" lang="ru-RU">
                <a:latin typeface="Consolas"/>
                <a:ea typeface="Consolas"/>
                <a:cs typeface="Consolas"/>
                <a:sym typeface="Consolas"/>
              </a:rPr>
            </a:b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9" name="Google Shape;319;p5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ru-RU" sz="3000"/>
              <a:t>Итерирование по коллекциям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5" name="Google Shape;325;p5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  public class ForEachDemo {</a:t>
            </a:r>
            <a:br>
              <a:rPr b="1" lang="ru-RU">
                <a:latin typeface="Consolas"/>
                <a:ea typeface="Consolas"/>
                <a:cs typeface="Consolas"/>
                <a:sym typeface="Consolas"/>
              </a:rPr>
            </a:b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    public static void main(String[] args) {</a:t>
            </a:r>
            <a:br>
              <a:rPr b="1" lang="ru-RU">
                <a:latin typeface="Consolas"/>
                <a:ea typeface="Consolas"/>
                <a:cs typeface="Consolas"/>
                <a:sym typeface="Consolas"/>
              </a:rPr>
            </a:b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        int[] arrayOfInts = { 32, 87, 3, 589, 12,</a:t>
            </a:r>
            <a:br>
              <a:rPr b="1" lang="ru-RU">
                <a:latin typeface="Consolas"/>
                <a:ea typeface="Consolas"/>
                <a:cs typeface="Consolas"/>
                <a:sym typeface="Consolas"/>
              </a:rPr>
            </a:b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                              1076, 2000, 8, 622,</a:t>
            </a:r>
            <a:br>
              <a:rPr b="1" lang="ru-RU">
                <a:latin typeface="Consolas"/>
                <a:ea typeface="Consolas"/>
                <a:cs typeface="Consolas"/>
                <a:sym typeface="Consolas"/>
              </a:rPr>
            </a:b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                              127 };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br>
              <a:rPr b="1" lang="ru-RU">
                <a:latin typeface="Consolas"/>
                <a:ea typeface="Consolas"/>
                <a:cs typeface="Consolas"/>
                <a:sym typeface="Consolas"/>
              </a:rPr>
            </a:b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        for (int element : arrayOfInts) {</a:t>
            </a:r>
            <a:br>
              <a:rPr b="1" lang="ru-RU">
                <a:latin typeface="Consolas"/>
                <a:ea typeface="Consolas"/>
                <a:cs typeface="Consolas"/>
                <a:sym typeface="Consolas"/>
              </a:rPr>
            </a:b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            System.out.print(element + " ");</a:t>
            </a:r>
            <a:br>
              <a:rPr b="1" lang="ru-RU">
                <a:latin typeface="Consolas"/>
                <a:ea typeface="Consolas"/>
                <a:cs typeface="Consolas"/>
                <a:sym typeface="Consolas"/>
              </a:rPr>
            </a:b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8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Noto Sans Symbols"/>
              <a:buNone/>
            </a:pPr>
            <a:br>
              <a:rPr b="1" lang="ru-RU">
                <a:latin typeface="Consolas"/>
                <a:ea typeface="Consolas"/>
                <a:cs typeface="Consolas"/>
                <a:sym typeface="Consolas"/>
              </a:rPr>
            </a:b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        System.out.println();</a:t>
            </a:r>
            <a:br>
              <a:rPr b="1" lang="ru-RU">
                <a:latin typeface="Consolas"/>
                <a:ea typeface="Consolas"/>
                <a:cs typeface="Consolas"/>
                <a:sym typeface="Consolas"/>
              </a:rPr>
            </a:b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b="1" lang="ru-RU">
                <a:latin typeface="Consolas"/>
                <a:ea typeface="Consolas"/>
                <a:cs typeface="Consolas"/>
                <a:sym typeface="Consolas"/>
              </a:rPr>
            </a:b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6" name="Google Shape;326;p5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break, continue</a:t>
            </a:r>
            <a:endParaRPr/>
          </a:p>
        </p:txBody>
      </p:sp>
      <p:sp>
        <p:nvSpPr>
          <p:cNvPr id="332" name="Google Shape;332;p5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ru-RU">
                <a:latin typeface="Courier New"/>
                <a:ea typeface="Courier New"/>
                <a:cs typeface="Courier New"/>
                <a:sym typeface="Courier New"/>
              </a:rPr>
              <a:t>while (true) {</a:t>
            </a:r>
            <a:endParaRPr/>
          </a:p>
          <a:p>
            <a:pPr indent="-228600" lvl="0" marL="228600" rtl="0" algn="l">
              <a:lnSpc>
                <a:spcPct val="89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ru-RU">
                <a:latin typeface="Courier New"/>
                <a:ea typeface="Courier New"/>
                <a:cs typeface="Courier New"/>
                <a:sym typeface="Courier New"/>
              </a:rPr>
              <a:t>    if (somethingGood) {</a:t>
            </a:r>
            <a:endParaRPr/>
          </a:p>
          <a:p>
            <a:pPr indent="-228600" lvl="0" marL="228600" rtl="0" algn="l">
              <a:lnSpc>
                <a:spcPct val="89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ru-RU">
                <a:latin typeface="Courier New"/>
                <a:ea typeface="Courier New"/>
                <a:cs typeface="Courier New"/>
                <a:sym typeface="Courier New"/>
              </a:rPr>
              <a:t>        break;</a:t>
            </a:r>
            <a:endParaRPr/>
          </a:p>
          <a:p>
            <a:pPr indent="-228600" lvl="0" marL="228600" rtl="0" algn="l">
              <a:lnSpc>
                <a:spcPct val="89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ru-RU">
                <a:latin typeface="Courier New"/>
                <a:ea typeface="Courier New"/>
                <a:cs typeface="Courier New"/>
                <a:sym typeface="Courier New"/>
              </a:rPr>
              <a:t>    } else {</a:t>
            </a:r>
            <a:endParaRPr/>
          </a:p>
          <a:p>
            <a:pPr indent="-228600" lvl="0" marL="228600" rtl="0" algn="l">
              <a:lnSpc>
                <a:spcPct val="89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ru-RU">
                <a:latin typeface="Courier New"/>
                <a:ea typeface="Courier New"/>
                <a:cs typeface="Courier New"/>
                <a:sym typeface="Courier New"/>
              </a:rPr>
              <a:t>        continue;</a:t>
            </a:r>
            <a:endParaRPr/>
          </a:p>
          <a:p>
            <a:pPr indent="-228600" lvl="0" marL="228600" rtl="0" algn="l">
              <a:lnSpc>
                <a:spcPct val="89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None/>
            </a:pPr>
            <a:r>
              <a:rPr b="1" lang="ru-RU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Советы 1</a:t>
            </a:r>
            <a:endParaRPr/>
          </a:p>
        </p:txBody>
      </p:sp>
      <p:sp>
        <p:nvSpPr>
          <p:cNvPr id="338" name="Google Shape;338;p5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/>
              <a:t>Размещайте инициализационный код непосредственно перед циклом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/>
              <a:t>Используйте while (true) для организации бесконечного цикла.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/>
              <a:t>Предпочитайте цикл for.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/>
              <a:t>Избегайте пустых циклов.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Char char="●"/>
            </a:pPr>
            <a:r>
              <a:rPr lang="ru-RU"/>
              <a:t>Располагайте служебные операции либо в начале, либо в конце цикла.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Советы 2</a:t>
            </a:r>
            <a:endParaRPr/>
          </a:p>
        </p:txBody>
      </p:sp>
      <p:sp>
        <p:nvSpPr>
          <p:cNvPr id="344" name="Google Shape;344;p5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9"/>
              <a:buChar char="●"/>
            </a:pPr>
            <a:r>
              <a:rPr lang="ru-RU" sz="2109"/>
              <a:t>Используйте смысловые имена переменных в циклах, чтобы сделать вложенные циклы более читабельными и чтобы не ошибаться с индексами при использовании массивов.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9"/>
              <a:buChar char="●"/>
            </a:pPr>
            <a:r>
              <a:rPr lang="ru-RU" sz="2109"/>
              <a:t>Ограничивайте видимость переменных-индексов цикла самим циклом.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9"/>
              <a:buChar char="●"/>
            </a:pPr>
            <a:r>
              <a:rPr lang="ru-RU" sz="2109"/>
              <a:t>Не делайте тело цикла длинной более одного экрана.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9"/>
              <a:buChar char="●"/>
            </a:pPr>
            <a:r>
              <a:rPr lang="ru-RU" sz="2109"/>
              <a:t>Ограничивайте вложенность тремя уровнями.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109"/>
              <a:buChar char="●"/>
            </a:pPr>
            <a:r>
              <a:rPr lang="ru-RU" sz="2109"/>
              <a:t>Используйте оператор break  вместо логических флагов завершения.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ru-RU" sz="2400">
                <a:latin typeface="Tahoma"/>
                <a:ea typeface="Tahoma"/>
                <a:cs typeface="Tahoma"/>
                <a:sym typeface="Tahoma"/>
              </a:rPr>
              <a:t>Развитие технологии программирования</a:t>
            </a:r>
            <a:endParaRPr/>
          </a:p>
        </p:txBody>
      </p:sp>
      <p:sp>
        <p:nvSpPr>
          <p:cNvPr id="351" name="Google Shape;351;p5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>
                <a:latin typeface="Tahoma"/>
                <a:ea typeface="Tahoma"/>
                <a:cs typeface="Tahoma"/>
                <a:sym typeface="Tahoma"/>
              </a:rPr>
              <a:t>Программирование в терминах операторов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ru-RU">
                <a:latin typeface="Tahoma"/>
                <a:ea typeface="Tahoma"/>
                <a:cs typeface="Tahoma"/>
                <a:sym typeface="Tahoma"/>
              </a:rPr>
              <a:t>Программирование в терминах процедур и функций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Char char="●"/>
            </a:pPr>
            <a:r>
              <a:rPr lang="ru-RU">
                <a:latin typeface="Tahoma"/>
                <a:ea typeface="Tahoma"/>
                <a:cs typeface="Tahoma"/>
                <a:sym typeface="Tahoma"/>
              </a:rPr>
              <a:t>Программирование в терминах классов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9"/>
          <p:cNvSpPr txBox="1"/>
          <p:nvPr/>
        </p:nvSpPr>
        <p:spPr>
          <a:xfrm>
            <a:off x="468313" y="476250"/>
            <a:ext cx="82803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Обзор терминологии</a:t>
            </a:r>
            <a:br>
              <a:rPr lang="ru-RU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59"/>
          <p:cNvSpPr/>
          <p:nvPr/>
        </p:nvSpPr>
        <p:spPr>
          <a:xfrm>
            <a:off x="971550" y="1268413"/>
            <a:ext cx="7129500" cy="50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• Класс – “чертеж” для создания многочисленных объектов; </a:t>
            </a: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(без создания объектов возможно использование static методов и переменных класса);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• Объект – некоторая сущность c поведением (методы) и состоянием (переменные), которые определяются классом данного объекта;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• Атрибут – элемент состояния объекта;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(синонимы – член объекта/класса, поле объекта/класса, переменная объекта/класса);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• Метод – элемент поведения объекта;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(синонимы – функция объекта/класса);</a:t>
            </a: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• Конструктор – метод особого вида, вызывающийся при создании объектов класса;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6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ru-RU" sz="2400">
                <a:latin typeface="Tahoma"/>
                <a:ea typeface="Tahoma"/>
                <a:cs typeface="Tahoma"/>
                <a:sym typeface="Tahoma"/>
              </a:rPr>
              <a:t>Абстрактные типы данных</a:t>
            </a:r>
            <a:endParaRPr/>
          </a:p>
        </p:txBody>
      </p:sp>
      <p:sp>
        <p:nvSpPr>
          <p:cNvPr id="364" name="Google Shape;364;p6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lang="ru-RU" sz="1800">
                <a:latin typeface="Tahoma"/>
                <a:ea typeface="Tahoma"/>
                <a:cs typeface="Tahoma"/>
                <a:sym typeface="Tahoma"/>
              </a:rPr>
              <a:t>АТД – набор данных и операций для работы с ними.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latin typeface="Tahoma"/>
              <a:ea typeface="Tahoma"/>
              <a:cs typeface="Tahoma"/>
              <a:sym typeface="Tahoma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latin typeface="Tahoma"/>
              <a:ea typeface="Tahoma"/>
              <a:cs typeface="Tahoma"/>
              <a:sym typeface="Tahoma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lang="ru-RU" sz="1800">
                <a:latin typeface="Tahoma"/>
                <a:ea typeface="Tahoma"/>
                <a:cs typeface="Tahoma"/>
                <a:sym typeface="Tahoma"/>
              </a:rPr>
              <a:t>Примеры АТД: 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lang="ru-RU" sz="1800">
                <a:latin typeface="Tahoma"/>
                <a:ea typeface="Tahoma"/>
                <a:cs typeface="Tahoma"/>
                <a:sym typeface="Tahoma"/>
              </a:rPr>
              <a:t>			Строки в Java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lang="ru-RU" sz="1800">
                <a:latin typeface="Tahoma"/>
                <a:ea typeface="Tahoma"/>
                <a:cs typeface="Tahoma"/>
                <a:sym typeface="Tahoma"/>
              </a:rPr>
              <a:t>			Cтек, очередь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6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ru-RU" sz="2400">
                <a:latin typeface="Tahoma"/>
                <a:ea typeface="Tahoma"/>
                <a:cs typeface="Tahoma"/>
                <a:sym typeface="Tahoma"/>
              </a:rPr>
              <a:t>Абстрактные типы данных: зачем?</a:t>
            </a:r>
            <a:endParaRPr/>
          </a:p>
        </p:txBody>
      </p:sp>
      <p:sp>
        <p:nvSpPr>
          <p:cNvPr id="371" name="Google Shape;371;p6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>
              <a:latin typeface="Tahoma"/>
              <a:ea typeface="Tahoma"/>
              <a:cs typeface="Tahoma"/>
              <a:sym typeface="Tahoma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ru-RU" sz="1350">
                <a:latin typeface="Tahoma"/>
                <a:ea typeface="Tahoma"/>
                <a:cs typeface="Tahoma"/>
                <a:sym typeface="Tahoma"/>
              </a:rPr>
              <a:t>Группировка родственных операций  и данных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ru-RU" sz="1350">
                <a:latin typeface="Tahoma"/>
                <a:ea typeface="Tahoma"/>
                <a:cs typeface="Tahoma"/>
                <a:sym typeface="Tahoma"/>
              </a:rPr>
              <a:t>Упрощение за счет построения более высокого уровня абстракции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ru-RU" sz="1350">
                <a:latin typeface="Tahoma"/>
                <a:ea typeface="Tahoma"/>
                <a:cs typeface="Tahoma"/>
                <a:sym typeface="Tahoma"/>
              </a:rPr>
              <a:t>Возможность моделировать сущности реального мира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ru-RU" sz="1350">
                <a:latin typeface="Tahoma"/>
                <a:ea typeface="Tahoma"/>
                <a:cs typeface="Tahoma"/>
                <a:sym typeface="Tahoma"/>
              </a:rPr>
              <a:t>Изоляция сложности. Упрощение за счет сокрытия деталей реализации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ru-RU" sz="1350">
                <a:latin typeface="Tahoma"/>
                <a:ea typeface="Tahoma"/>
                <a:cs typeface="Tahoma"/>
                <a:sym typeface="Tahoma"/>
              </a:rPr>
              <a:t>Повышение удобочитаемости и понятности кода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ru-RU" sz="1350">
                <a:latin typeface="Tahoma"/>
                <a:ea typeface="Tahoma"/>
                <a:cs typeface="Tahoma"/>
                <a:sym typeface="Tahoma"/>
              </a:rPr>
              <a:t>Ограничение влияния изменений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1350"/>
              <a:buChar char="●"/>
            </a:pPr>
            <a:r>
              <a:rPr lang="ru-RU" sz="1350">
                <a:latin typeface="Tahoma"/>
                <a:ea typeface="Tahoma"/>
                <a:cs typeface="Tahoma"/>
                <a:sym typeface="Tahoma"/>
              </a:rPr>
              <a:t>Локальность изменений кода</a:t>
            </a:r>
            <a:endParaRPr/>
          </a:p>
        </p:txBody>
      </p:sp>
      <p:sp>
        <p:nvSpPr>
          <p:cNvPr id="372" name="Google Shape;372;p61"/>
          <p:cNvSpPr/>
          <p:nvPr/>
        </p:nvSpPr>
        <p:spPr>
          <a:xfrm>
            <a:off x="2789635" y="4779169"/>
            <a:ext cx="306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 Снижение сложности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Объявление классов</a:t>
            </a:r>
            <a:endParaRPr/>
          </a:p>
        </p:txBody>
      </p:sp>
      <p:sp>
        <p:nvSpPr>
          <p:cNvPr id="379" name="Google Shape;379;p6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class Turtle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private boolean penDown;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protected int x, y;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public void jumpTo(int newX, int newY)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x = newX;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y = newY;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public int getX()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return x;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Создание и использование объектов. Конструктор</a:t>
            </a:r>
            <a:endParaRPr/>
          </a:p>
        </p:txBody>
      </p:sp>
      <p:sp>
        <p:nvSpPr>
          <p:cNvPr id="386" name="Google Shape;386;p6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Turtle t;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t = new Turtle(100, 100);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int a = t.getX();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t.jumpTo(300, 200);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class Turtle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public Turtle(int initX, int initY)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x = initX;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y = initY;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penDown = false;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...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ru-RU" sz="2400">
                <a:latin typeface="Tahoma"/>
                <a:ea typeface="Tahoma"/>
                <a:cs typeface="Tahoma"/>
                <a:sym typeface="Tahoma"/>
              </a:rPr>
              <a:t>Пример описания класса</a:t>
            </a:r>
            <a:endParaRPr/>
          </a:p>
        </p:txBody>
      </p:sp>
      <p:sp>
        <p:nvSpPr>
          <p:cNvPr id="393" name="Google Shape;393;p6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ahoma"/>
              <a:buNone/>
            </a:pPr>
            <a:r>
              <a:rPr lang="ru-RU" sz="1050">
                <a:latin typeface="Tahoma"/>
                <a:ea typeface="Tahoma"/>
                <a:cs typeface="Tahoma"/>
                <a:sym typeface="Tahoma"/>
              </a:rPr>
              <a:t>public class Spot { </a:t>
            </a:r>
            <a:endParaRPr/>
          </a:p>
          <a:p>
            <a:pPr indent="-228600" lvl="0" marL="2286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ahoma"/>
              <a:buNone/>
            </a:pPr>
            <a:r>
              <a:rPr lang="ru-RU" sz="1050">
                <a:latin typeface="Tahoma"/>
                <a:ea typeface="Tahoma"/>
                <a:cs typeface="Tahoma"/>
                <a:sym typeface="Tahoma"/>
              </a:rPr>
              <a:t>    // переменные – члены класса </a:t>
            </a:r>
            <a:endParaRPr/>
          </a:p>
          <a:p>
            <a:pPr indent="-228600" lvl="0" marL="2286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ahoma"/>
              <a:buNone/>
            </a:pPr>
            <a:r>
              <a:rPr lang="ru-RU" sz="1050">
                <a:latin typeface="Tahoma"/>
                <a:ea typeface="Tahoma"/>
                <a:cs typeface="Tahoma"/>
                <a:sym typeface="Tahoma"/>
              </a:rPr>
              <a:t>    public int x, y; </a:t>
            </a:r>
            <a:endParaRPr/>
          </a:p>
          <a:p>
            <a:pPr indent="-228600" lvl="0" marL="2286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ahoma"/>
              <a:buNone/>
            </a:pPr>
            <a:r>
              <a:rPr lang="ru-RU" sz="1050">
                <a:latin typeface="Tahoma"/>
                <a:ea typeface="Tahoma"/>
                <a:cs typeface="Tahoma"/>
                <a:sym typeface="Tahoma"/>
              </a:rPr>
              <a:t>    private int size; </a:t>
            </a:r>
            <a:endParaRPr/>
          </a:p>
          <a:p>
            <a:pPr indent="-228600" lvl="0" marL="2286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latin typeface="Tahoma"/>
              <a:ea typeface="Tahoma"/>
              <a:cs typeface="Tahoma"/>
              <a:sym typeface="Tahoma"/>
            </a:endParaRPr>
          </a:p>
          <a:p>
            <a:pPr indent="-228600" lvl="0" marL="2286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ahoma"/>
              <a:buNone/>
            </a:pPr>
            <a:r>
              <a:rPr lang="ru-RU" sz="1050">
                <a:latin typeface="Tahoma"/>
                <a:ea typeface="Tahoma"/>
                <a:cs typeface="Tahoma"/>
                <a:sym typeface="Tahoma"/>
              </a:rPr>
              <a:t>    // конструктор </a:t>
            </a:r>
            <a:endParaRPr/>
          </a:p>
          <a:p>
            <a:pPr indent="-228600" lvl="0" marL="2286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ahoma"/>
              <a:buNone/>
            </a:pPr>
            <a:r>
              <a:rPr lang="ru-RU" sz="1050">
                <a:latin typeface="Tahoma"/>
                <a:ea typeface="Tahoma"/>
                <a:cs typeface="Tahoma"/>
                <a:sym typeface="Tahoma"/>
              </a:rPr>
              <a:t>    public Spot() { </a:t>
            </a:r>
            <a:endParaRPr/>
          </a:p>
          <a:p>
            <a:pPr indent="-228600" lvl="0" marL="2286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ahoma"/>
              <a:buNone/>
            </a:pPr>
            <a:r>
              <a:rPr lang="ru-RU" sz="1050">
                <a:latin typeface="Tahoma"/>
                <a:ea typeface="Tahoma"/>
                <a:cs typeface="Tahoma"/>
                <a:sym typeface="Tahoma"/>
              </a:rPr>
              <a:t>		x = -1; y = -1; size = 1; </a:t>
            </a:r>
            <a:endParaRPr/>
          </a:p>
          <a:p>
            <a:pPr indent="-228600" lvl="0" marL="2286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ahoma"/>
              <a:buNone/>
            </a:pPr>
            <a:r>
              <a:rPr lang="ru-RU" sz="1050">
                <a:latin typeface="Tahoma"/>
                <a:ea typeface="Tahoma"/>
                <a:cs typeface="Tahoma"/>
                <a:sym typeface="Tahoma"/>
              </a:rPr>
              <a:t> 	} </a:t>
            </a:r>
            <a:endParaRPr/>
          </a:p>
          <a:p>
            <a:pPr indent="-228600" lvl="0" marL="2286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latin typeface="Tahoma"/>
              <a:ea typeface="Tahoma"/>
              <a:cs typeface="Tahoma"/>
              <a:sym typeface="Tahoma"/>
            </a:endParaRPr>
          </a:p>
          <a:p>
            <a:pPr indent="-228600" lvl="0" marL="2286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ahoma"/>
              <a:buNone/>
            </a:pPr>
            <a:r>
              <a:rPr lang="ru-RU" sz="1050">
                <a:latin typeface="Tahoma"/>
                <a:ea typeface="Tahoma"/>
                <a:cs typeface="Tahoma"/>
                <a:sym typeface="Tahoma"/>
              </a:rPr>
              <a:t>	// методы – члены класса</a:t>
            </a:r>
            <a:endParaRPr/>
          </a:p>
          <a:p>
            <a:pPr indent="-228600" lvl="0" marL="2286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ahoma"/>
              <a:buNone/>
            </a:pPr>
            <a:r>
              <a:rPr lang="ru-RU" sz="1050">
                <a:latin typeface="Tahoma"/>
                <a:ea typeface="Tahoma"/>
                <a:cs typeface="Tahoma"/>
                <a:sym typeface="Tahoma"/>
              </a:rPr>
              <a:t>    public void setSize(int newSize) { </a:t>
            </a:r>
            <a:endParaRPr/>
          </a:p>
          <a:p>
            <a:pPr indent="-228600" lvl="0" marL="2286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ahoma"/>
              <a:buNone/>
            </a:pPr>
            <a:r>
              <a:rPr lang="ru-RU" sz="1050">
                <a:latin typeface="Tahoma"/>
                <a:ea typeface="Tahoma"/>
                <a:cs typeface="Tahoma"/>
                <a:sym typeface="Tahoma"/>
              </a:rPr>
              <a:t>		if (newSize &gt;= 0) { </a:t>
            </a:r>
            <a:endParaRPr/>
          </a:p>
          <a:p>
            <a:pPr indent="-228600" lvl="0" marL="2286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ahoma"/>
              <a:buNone/>
            </a:pPr>
            <a:r>
              <a:rPr lang="ru-RU" sz="1050">
                <a:latin typeface="Tahoma"/>
                <a:ea typeface="Tahoma"/>
                <a:cs typeface="Tahoma"/>
                <a:sym typeface="Tahoma"/>
              </a:rPr>
              <a:t>			size = newSize; </a:t>
            </a:r>
            <a:endParaRPr/>
          </a:p>
          <a:p>
            <a:pPr indent="-228600" lvl="0" marL="2286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ahoma"/>
              <a:buNone/>
            </a:pPr>
            <a:r>
              <a:rPr lang="ru-RU" sz="1050">
                <a:latin typeface="Tahoma"/>
                <a:ea typeface="Tahoma"/>
                <a:cs typeface="Tahoma"/>
                <a:sym typeface="Tahoma"/>
              </a:rPr>
              <a:t>            } </a:t>
            </a:r>
            <a:endParaRPr/>
          </a:p>
          <a:p>
            <a:pPr indent="-228600" lvl="0" marL="2286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ahoma"/>
              <a:buNone/>
            </a:pPr>
            <a:r>
              <a:rPr lang="ru-RU" sz="1050">
                <a:latin typeface="Tahoma"/>
                <a:ea typeface="Tahoma"/>
                <a:cs typeface="Tahoma"/>
                <a:sym typeface="Tahoma"/>
              </a:rPr>
              <a:t>    } </a:t>
            </a:r>
            <a:endParaRPr/>
          </a:p>
          <a:p>
            <a:pPr indent="-228600" lvl="0" marL="228600" rtl="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ahoma"/>
              <a:buNone/>
            </a:pPr>
            <a:r>
              <a:rPr lang="ru-RU" sz="1050">
                <a:latin typeface="Tahoma"/>
                <a:ea typeface="Tahoma"/>
                <a:cs typeface="Tahoma"/>
                <a:sym typeface="Tahoma"/>
              </a:rPr>
              <a:t>	public int getSize() { return size; } </a:t>
            </a:r>
            <a:endParaRPr/>
          </a:p>
          <a:p>
            <a:pPr indent="-228600" lvl="0" marL="228600" rtl="0" algn="l">
              <a:lnSpc>
                <a:spcPct val="6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1050"/>
              <a:buFont typeface="Tahoma"/>
              <a:buNone/>
            </a:pPr>
            <a:r>
              <a:rPr lang="ru-RU" sz="1050">
                <a:latin typeface="Tahoma"/>
                <a:ea typeface="Tahoma"/>
                <a:cs typeface="Tahoma"/>
                <a:sym typeface="Tahoma"/>
              </a:rPr>
              <a:t>}</a:t>
            </a:r>
            <a:r>
              <a:rPr lang="ru-RU" sz="1260">
                <a:latin typeface="Tahoma"/>
                <a:ea typeface="Tahoma"/>
                <a:cs typeface="Tahoma"/>
                <a:sym typeface="Tahoma"/>
              </a:rPr>
              <a:t> </a:t>
            </a:r>
            <a:endParaRPr sz="196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ru-RU" sz="2400">
                <a:latin typeface="Tahoma"/>
                <a:ea typeface="Tahoma"/>
                <a:cs typeface="Tahoma"/>
                <a:sym typeface="Tahoma"/>
              </a:rPr>
              <a:t>Описание переменных - членов класса</a:t>
            </a:r>
            <a:endParaRPr/>
          </a:p>
        </p:txBody>
      </p:sp>
      <p:graphicFrame>
        <p:nvGraphicFramePr>
          <p:cNvPr id="400" name="Google Shape;400;p65"/>
          <p:cNvGraphicFramePr/>
          <p:nvPr/>
        </p:nvGraphicFramePr>
        <p:xfrm>
          <a:off x="1485900" y="20574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{2D8CF6E5-B5C5-4838-A3E5-144F76ACB83D}</a:tableStyleId>
              </a:tblPr>
              <a:tblGrid>
                <a:gridCol w="1527575"/>
                <a:gridCol w="4644625"/>
              </a:tblGrid>
              <a:tr h="41672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Элемент 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Значение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0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mo"/>
                        <a:buNone/>
                      </a:pPr>
                      <a:r>
                        <a:rPr b="0" i="1" lang="ru-RU" sz="15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accessLevel</a:t>
                      </a:r>
                      <a:r>
                        <a:rPr b="0" i="0" lang="ru-RU" sz="15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(Optional) Access level for the variable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0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mo"/>
                        <a:buNone/>
                      </a:pPr>
                      <a:r>
                        <a:rPr b="0" i="0" lang="ru-RU" sz="15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static</a:t>
                      </a:r>
                      <a:r>
                        <a:rPr b="0" i="0" lang="ru-RU" sz="15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(Optional) Declares a class variable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867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mo"/>
                        <a:buNone/>
                      </a:pPr>
                      <a:r>
                        <a:rPr b="0" i="0" lang="ru-RU" sz="15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final</a:t>
                      </a:r>
                      <a:r>
                        <a:rPr b="0" i="0" lang="ru-RU" sz="15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(Optional) Indicates that the variable is a constant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87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mo"/>
                        <a:buNone/>
                      </a:pPr>
                      <a:r>
                        <a:rPr b="0" i="1" lang="ru-RU" sz="15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type name</a:t>
                      </a:r>
                      <a:r>
                        <a:rPr b="0" i="0" lang="ru-RU" sz="15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Тип и имя переменной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1" name="Google Shape;401;p65"/>
          <p:cNvSpPr txBox="1"/>
          <p:nvPr/>
        </p:nvSpPr>
        <p:spPr>
          <a:xfrm>
            <a:off x="1601392" y="4887517"/>
            <a:ext cx="5292328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public static final int myVar;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2" name="Google Shape;402;p6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ru-RU" sz="2400">
                <a:latin typeface="Tahoma"/>
                <a:ea typeface="Tahoma"/>
                <a:cs typeface="Tahoma"/>
                <a:sym typeface="Tahoma"/>
              </a:rPr>
              <a:t>Описание методов - членов класса</a:t>
            </a:r>
            <a:endParaRPr/>
          </a:p>
        </p:txBody>
      </p:sp>
      <p:sp>
        <p:nvSpPr>
          <p:cNvPr id="409" name="Google Shape;409;p66"/>
          <p:cNvSpPr txBox="1"/>
          <p:nvPr/>
        </p:nvSpPr>
        <p:spPr>
          <a:xfrm>
            <a:off x="1277542" y="4023124"/>
            <a:ext cx="5292328" cy="1361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public int setMe(int me) {</a:t>
            </a:r>
            <a:endParaRPr/>
          </a:p>
          <a:p>
            <a:pPr indent="0" lvl="0" marL="0" marR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this.me = me;</a:t>
            </a:r>
            <a:endParaRPr/>
          </a:p>
          <a:p>
            <a:pPr indent="0" lvl="0" marL="0" marR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return this.me;</a:t>
            </a:r>
            <a:endParaRPr/>
          </a:p>
          <a:p>
            <a:pPr indent="0" lvl="0" marL="0" marR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}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410" name="Google Shape;410;p66"/>
          <p:cNvGraphicFramePr/>
          <p:nvPr/>
        </p:nvGraphicFramePr>
        <p:xfrm>
          <a:off x="1277541" y="17549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{2D8CF6E5-B5C5-4838-A3E5-144F76ACB83D}</a:tableStyleId>
              </a:tblPr>
              <a:tblGrid>
                <a:gridCol w="1403750"/>
                <a:gridCol w="5172075"/>
              </a:tblGrid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Element 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Function 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mo"/>
                        <a:buNone/>
                      </a:pPr>
                      <a:r>
                        <a:rPr b="0" i="1" lang="ru-RU" sz="14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accessLevel</a:t>
                      </a: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(Optional) Access level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mo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static</a:t>
                      </a: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(Optional) Declares a class method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mo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abstract</a:t>
                      </a: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(Optional) Indicates that the method is not implemented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mo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final</a:t>
                      </a: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(Optional) Indicates that the method cannot be overridden 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1" name="Google Shape;411;p6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ru-RU" sz="2400">
                <a:latin typeface="Tahoma"/>
                <a:ea typeface="Tahoma"/>
                <a:cs typeface="Tahoma"/>
                <a:sym typeface="Tahoma"/>
              </a:rPr>
              <a:t>Контроль доступа</a:t>
            </a:r>
            <a:endParaRPr/>
          </a:p>
        </p:txBody>
      </p:sp>
      <p:graphicFrame>
        <p:nvGraphicFramePr>
          <p:cNvPr id="418" name="Google Shape;418;p67"/>
          <p:cNvGraphicFramePr/>
          <p:nvPr/>
        </p:nvGraphicFramePr>
        <p:xfrm>
          <a:off x="1925241" y="19704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{2D8CF6E5-B5C5-4838-A3E5-144F76ACB83D}</a:tableStyleId>
              </a:tblPr>
              <a:tblGrid>
                <a:gridCol w="1302550"/>
                <a:gridCol w="764375"/>
                <a:gridCol w="1069175"/>
                <a:gridCol w="1143000"/>
                <a:gridCol w="801300"/>
              </a:tblGrid>
              <a:tr h="38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Specifier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Package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Subclass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World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mo"/>
                        <a:buNone/>
                      </a:pPr>
                      <a:r>
                        <a:rPr b="0" i="0" lang="ru-RU" sz="15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private</a:t>
                      </a:r>
                      <a:endParaRPr b="0" i="0" sz="15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9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ru-RU" sz="15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specifier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mo"/>
                        <a:buNone/>
                      </a:pPr>
                      <a:r>
                        <a:rPr b="0" i="0" lang="ru-RU" sz="15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protected</a:t>
                      </a:r>
                      <a:endParaRPr b="0" i="0" sz="15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mo"/>
                        <a:buNone/>
                      </a:pPr>
                      <a:r>
                        <a:rPr b="0" i="0" lang="ru-RU" sz="1500" u="none" cap="none" strike="noStrike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public</a:t>
                      </a:r>
                      <a:endParaRPr b="0" i="0" sz="15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ru-RU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34300" marB="3430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9" name="Google Shape;419;p6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Метод main</a:t>
            </a:r>
            <a:endParaRPr/>
          </a:p>
        </p:txBody>
      </p:sp>
      <p:sp>
        <p:nvSpPr>
          <p:cNvPr id="426" name="Google Shape;426;p6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В Java операторы могут содержаться только внутри методов класса.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-RU"/>
              <a:t>Обычно в одном файле содержится описание только одного класса.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-RU"/>
              <a:t>Точкой входа в программу является специальный метод main у класса, который является главным или единственным в программе.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public static void main(String[] args)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Turtle t = new Turtle(100, 200);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t.right(90);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while (t.getX() &lt; 150)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t.forward(2);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Наследование</a:t>
            </a:r>
            <a:endParaRPr/>
          </a:p>
        </p:txBody>
      </p:sp>
      <p:sp>
        <p:nvSpPr>
          <p:cNvPr id="433" name="Google Shape;433;p6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abstract class Turtle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public abstract void draw();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class NinjaTurtle extends Turtle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public NinjaTurtle(int initX, int initY, String name)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super(initX, initY); // Call superclass’ constructor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// ... do some more initialization stuff…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// Declarations for Ninja turtles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Все методы по умолчанию являются виртуальными.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Интерфейсы</a:t>
            </a:r>
            <a:endParaRPr/>
          </a:p>
        </p:txBody>
      </p:sp>
      <p:sp>
        <p:nvSpPr>
          <p:cNvPr id="440" name="Google Shape;440;p7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interface MouseListener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void processMouseClick(int x, int y);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class SomeClass extends SomeOtherClass implements MouseListener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public void processMouseClick(int x, int y)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// Do something sensible here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class WindowSystem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public void addMouseListener(MouseListener m)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// Insert m into some clever data structure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// ... and loads of more stuff…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7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Обработка исключений</a:t>
            </a:r>
            <a:endParaRPr/>
          </a:p>
        </p:txBody>
      </p:sp>
      <p:sp>
        <p:nvSpPr>
          <p:cNvPr id="447" name="Google Shape;447;p7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public int getNatural() throws IOException {...}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int m, n;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try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n = getNatural();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m = n * 2; // If an exception is thrown, this is not executed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catch (IOException e)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n = 1;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m = 2;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public void doStuff() throws IOException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int n = getNatural(); // May throw an exception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7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Генерация и создание исключений</a:t>
            </a:r>
            <a:endParaRPr/>
          </a:p>
        </p:txBody>
      </p:sp>
      <p:sp>
        <p:nvSpPr>
          <p:cNvPr id="454" name="Google Shape;454;p72"/>
          <p:cNvSpPr txBox="1"/>
          <p:nvPr>
            <p:ph idx="1" type="body"/>
          </p:nvPr>
        </p:nvSpPr>
        <p:spPr>
          <a:xfrm>
            <a:off x="311700" y="1356875"/>
            <a:ext cx="8520600" cy="47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public int getNatural() throws IOException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char ch;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hile (more input)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ch = (read character);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if (ch &lt; ‘0’ || ch &gt; ‘9’)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throw new IOException(“bad natural number”);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class OverheatedException extends Exception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public OverheatedException(String s, double temp)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super(s);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myTemperature = temp;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private double myTemperature;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Использование пакетов</a:t>
            </a:r>
            <a:endParaRPr/>
          </a:p>
        </p:txBody>
      </p:sp>
      <p:sp>
        <p:nvSpPr>
          <p:cNvPr id="461" name="Google Shape;461;p73"/>
          <p:cNvSpPr txBox="1"/>
          <p:nvPr>
            <p:ph idx="1" type="body"/>
          </p:nvPr>
        </p:nvSpPr>
        <p:spPr>
          <a:xfrm>
            <a:off x="311700" y="155068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Как правило, в Java классы объединяются в пакеты.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По умолчанию java уже имеет ряд встроенных пакетов, например, java.lang, java.util, java.io и т.д. Пакеты могут иметь вложенные пакеты.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package название_пакета;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import android.widget.Button;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ru-RU">
                <a:latin typeface="Consolas"/>
                <a:ea typeface="Consolas"/>
                <a:cs typeface="Consolas"/>
                <a:sym typeface="Consolas"/>
              </a:rPr>
              <a:t>import java.io.*;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