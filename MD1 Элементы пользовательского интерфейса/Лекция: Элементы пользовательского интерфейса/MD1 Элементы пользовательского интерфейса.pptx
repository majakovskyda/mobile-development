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Roboto Mon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F9B3BB1-F7BE-4F34-BD37-23A0E28CBD85}">
  <a:tblStyle styleId="{8F9B3BB1-F7BE-4F34-BD37-23A0E28CBD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/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RobotoMono-bold.fntdata"/><Relationship Id="rId21" Type="http://schemas.openxmlformats.org/officeDocument/2006/relationships/slide" Target="slides/slide15.xml"/><Relationship Id="rId43" Type="http://schemas.openxmlformats.org/officeDocument/2006/relationships/font" Target="fonts/RobotoMono-regular.fntdata"/><Relationship Id="rId24" Type="http://schemas.openxmlformats.org/officeDocument/2006/relationships/slide" Target="slides/slide18.xml"/><Relationship Id="rId46" Type="http://schemas.openxmlformats.org/officeDocument/2006/relationships/font" Target="fonts/RobotoMono-boldItalic.fntdata"/><Relationship Id="rId23" Type="http://schemas.openxmlformats.org/officeDocument/2006/relationships/slide" Target="slides/slide17.xml"/><Relationship Id="rId45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3a770dd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3a770dd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3a770dd9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3a770dd9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fae79d2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7fae79d2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3a70bb3c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3a70bb3c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73a70bb3c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73a70bb3c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3a70bb3c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3a70bb3c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73a70bb3c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73a70bb3c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73a70bb3c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73a70bb3c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73a70bb3c7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73a70bb3c7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73a70bb3c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73a70bb3c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3a70bb3c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73a70bb3c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73a70bb3c7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73a70bb3c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73a70bb3c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73a70bb3c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3a70bb3c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73a70bb3c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73a70bb3c7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73a70bb3c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73a70bb3c7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73a70bb3c7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73a70bb3c7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73a70bb3c7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73a70bb3c7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73a70bb3c7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73a70bb3c7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73a70bb3c7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73a70bb3c7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73a70bb3c7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73a70bb3c7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73a70bb3c7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73a70bb3c7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73a70bb3c7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73a70bb3c7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73a70bb3c7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73a70bb3c7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73a70bb3c7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73a70bb3c7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73a70bb3c7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73a70bb3c7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73a70bb3c7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73a70bb3c7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73a70bb3c7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73a70bb3c7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73a70bb3c7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73a70bb3c7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73a70bb3c7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73a70bb3c7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73a70bb3c7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73a70bb3c7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73a70bb3c7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73a70bb3c7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73a70bb3c7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73a70bb3c7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73a70bb3c7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73a70bb3c7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73a70bb3c7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73a70bb3c7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73a70bb3c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eveloper.android.com/guide/topics/resources/providing-resources?hl=ru" TargetMode="External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eveloper.android.com/reference/android/widget/package-summary" TargetMode="External"/><Relationship Id="rId4" Type="http://schemas.openxmlformats.org/officeDocument/2006/relationships/hyperlink" Target="https://developer.android.com/guide/topics/ui/controls/togglebutton" TargetMode="External"/><Relationship Id="rId5" Type="http://schemas.openxmlformats.org/officeDocument/2006/relationships/hyperlink" Target="https://developer.android.com/guide/topics/ui/controls/spinner" TargetMode="External"/><Relationship Id="rId6" Type="http://schemas.openxmlformats.org/officeDocument/2006/relationships/hyperlink" Target="https://developer.android.com/guide/topics/ui/controls/pickers" TargetMode="External"/><Relationship Id="rId7" Type="http://schemas.openxmlformats.org/officeDocument/2006/relationships/hyperlink" Target="https://developer.android.com/guide/topics/ui/floating-action-button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eveloper.android.com/guide/topics/ui/declaring-layout" TargetMode="External"/><Relationship Id="rId4" Type="http://schemas.openxmlformats.org/officeDocument/2006/relationships/hyperlink" Target="https://developer.android.com/guide/topics/ui/layout/relative" TargetMode="External"/><Relationship Id="rId5" Type="http://schemas.openxmlformats.org/officeDocument/2006/relationships/hyperlink" Target="https://developer.android.com/guide/topics/ui/layout/recyclerview" TargetMode="External"/><Relationship Id="rId6" Type="http://schemas.openxmlformats.org/officeDocument/2006/relationships/hyperlink" Target="https://developer.android.com/guide/topics/ui/layout/recyclerview" TargetMode="External"/><Relationship Id="rId7" Type="http://schemas.openxmlformats.org/officeDocument/2006/relationships/hyperlink" Target="https://developer.android.com/training/constraint-layout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eveloper.android.com/guide/topics/resources/more-resources#Dimension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eveloper.android.com/guide/topics/resources/providing-resources?hl=ru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eveloper.android.com/reference/android/widget/TextView.html#pubmethods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developer.android.com/guide/topics/ui/ui-events?hl=ru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600"/>
              <a:t>Элементы пользовательского интерфейса</a:t>
            </a:r>
            <a:endParaRPr sz="36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этой лекции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Работа с элементами пользовательского интерфейса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Группы и контейнеры элементов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Свойства позиционирования элементов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Работа с ресурсами приложения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Работа с событиями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Ресурсы приложения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Принцип разделения данных и кода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Различные </a:t>
            </a:r>
            <a:r>
              <a:rPr lang="ru" u="sng">
                <a:solidFill>
                  <a:schemeClr val="hlink"/>
                </a:solidFill>
                <a:hlinkClick r:id="rId3"/>
              </a:rPr>
              <a:t>типы ресурсов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Файл R.java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Большинство - XML.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R.string.hello - из кода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@string/hello - из XML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4">
            <a:alphaModFix/>
          </a:blip>
          <a:srcRect b="24489" l="22500" r="61750" t="41332"/>
          <a:stretch/>
        </p:blipFill>
        <p:spPr>
          <a:xfrm>
            <a:off x="6033507" y="1152475"/>
            <a:ext cx="2798798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элементы и группы?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Элементы - View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Группы - ViewGroup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Элементы XML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5875" y="1152475"/>
            <a:ext cx="5686425" cy="327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задаются элементы в файлах макетов?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&lt;?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xml version=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"1.0"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encoding=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lang="ru" sz="14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?&gt;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xmlns:android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"http://schemas.android.com/apk/res/android"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"match_parent"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"match_parent"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android:orientation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"vertical"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"@+id/text"</a:t>
            </a:r>
            <a:endParaRPr sz="14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"Hello, I am a TextView"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/&gt;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"@+id/button"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"Hello, I am a Button"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/&gt;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задаются элементы в файлах макетов?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Файлы макетов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/res/layout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Дерево элементов</a:t>
            </a:r>
            <a:endParaRPr/>
          </a:p>
        </p:txBody>
      </p:sp>
      <p:sp>
        <p:nvSpPr>
          <p:cNvPr id="88" name="Google Shape;88;p18"/>
          <p:cNvSpPr txBox="1"/>
          <p:nvPr>
            <p:ph idx="2" type="body"/>
          </p:nvPr>
        </p:nvSpPr>
        <p:spPr>
          <a:xfrm>
            <a:off x="3393150" y="1152475"/>
            <a:ext cx="5439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ru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onCreate</a:t>
            </a:r>
            <a:r>
              <a:rPr lang="ru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(Bundle savedInstanceState) {</a:t>
            </a:r>
            <a:br>
              <a:rPr lang="ru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super</a:t>
            </a:r>
            <a:r>
              <a:rPr lang="ru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.onCreate(savedInstanceState);</a:t>
            </a:r>
            <a:br>
              <a:rPr lang="ru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setContentView(R.layout.main_layout);</a:t>
            </a:r>
            <a:br>
              <a:rPr lang="ru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TextView - прямоугольный блок с текстовой надписью.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535225"/>
            <a:ext cx="8520600" cy="30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"@+id/myTextview"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"fill_parent"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"Mangnet Brains"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android:textSize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"25dp"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android:textColor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"@android:color/black"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android:typeface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"serif"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android:gravity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"center"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android:padding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"10dp"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android:layout_margin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"20dp"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/&gt;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 rotWithShape="1">
          <a:blip r:embed="rId3">
            <a:alphaModFix/>
          </a:blip>
          <a:srcRect b="20123" l="1660" r="32696" t="16712"/>
          <a:stretch/>
        </p:blipFill>
        <p:spPr>
          <a:xfrm>
            <a:off x="4854700" y="1726725"/>
            <a:ext cx="3977600" cy="192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EditText - поле для ввода текста. 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EditText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"@+id/myEdittext"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"fill_parent"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android:textSize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"20dp"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android:textStyle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"bold"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android:typeface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"serif"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android:gravity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"center"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android:padding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"10dp"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android:layout_margin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"20dp"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android:hint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"Enter a Number"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android:singleLine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"true"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android:inputType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"textPassword"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/&gt;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 rotWithShape="1">
          <a:blip r:embed="rId3">
            <a:alphaModFix/>
          </a:blip>
          <a:srcRect b="51080" l="3508" r="41592" t="7744"/>
          <a:stretch/>
        </p:blipFill>
        <p:spPr>
          <a:xfrm>
            <a:off x="4799250" y="1670904"/>
            <a:ext cx="4033050" cy="229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ImageView - позволяет отобразить изображения на экране устройства.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437450"/>
            <a:ext cx="8520600" cy="31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ImageView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"@+id/myimageview"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"100dp"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"100dp"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android:layout_margin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"20dp"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android:gravity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"center"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android:padding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"10dp"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android:src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"@drawable/ic_launcher"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/&gt;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 rotWithShape="1">
          <a:blip r:embed="rId3">
            <a:alphaModFix/>
          </a:blip>
          <a:srcRect b="14162" l="1664" r="33307" t="16919"/>
          <a:stretch/>
        </p:blipFill>
        <p:spPr>
          <a:xfrm>
            <a:off x="5047400" y="1437450"/>
            <a:ext cx="3784900" cy="197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CheckBox - флажок, который пользователь может установить или снять тапом.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505900"/>
            <a:ext cx="8520600" cy="30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CheckBox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"@+id/checkBox1"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"100dp"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android:layout_margin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"20dp"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"Formget."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android:checked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"true"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/&gt;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CheckBox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"@+id/checkBox2"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"100dp"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android:layout_margin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"20dp"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"Mailget."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/&gt;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 rotWithShape="1">
          <a:blip r:embed="rId3">
            <a:alphaModFix/>
          </a:blip>
          <a:srcRect b="12894" l="1663" r="33615" t="19382"/>
          <a:stretch/>
        </p:blipFill>
        <p:spPr>
          <a:xfrm>
            <a:off x="4886125" y="1795479"/>
            <a:ext cx="3946175" cy="204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RadioGroup и RadioButton - используются для организации группы кнопок-переключателей.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496125"/>
            <a:ext cx="8520600" cy="30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2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RadioGroup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"@+id/radioGroupExample"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	  	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	  	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&gt; 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&lt;</a:t>
            </a:r>
            <a:r>
              <a:rPr lang="ru" sz="12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RadioButton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"@+id/radioBtton1"</a:t>
            </a:r>
            <a:endParaRPr sz="12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	   	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	   	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	   	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android:checked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"true"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	   	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"RadioButton 1"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/&gt; 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&lt;</a:t>
            </a:r>
            <a:r>
              <a:rPr lang="ru" sz="12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RadioButton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"@+id/radioButton2"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	       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	  	 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	       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"RadioButton 2"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/&gt; </a:t>
            </a:r>
            <a:endParaRPr sz="12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2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RadioGroup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/>
          </a:p>
        </p:txBody>
      </p:sp>
      <p:pic>
        <p:nvPicPr>
          <p:cNvPr id="123" name="Google Shape;123;p23"/>
          <p:cNvPicPr preferRelativeResize="0"/>
          <p:nvPr/>
        </p:nvPicPr>
        <p:blipFill rotWithShape="1">
          <a:blip r:embed="rId3">
            <a:alphaModFix/>
          </a:blip>
          <a:srcRect b="40591" l="20053" r="70962" t="48898"/>
          <a:stretch/>
        </p:blipFill>
        <p:spPr>
          <a:xfrm>
            <a:off x="6123050" y="2157184"/>
            <a:ext cx="2103275" cy="139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Button - простая кнопка с надписью, реагирующая на нажатие (тап).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1535225"/>
            <a:ext cx="8520600" cy="30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"@+id/button1"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"match_parent"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"Click Here !"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/&gt;</a:t>
            </a:r>
            <a:endParaRPr sz="14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ImageButton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"@+id/imageButton1"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"match_parent"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android:layout_gravity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"center"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android:src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"@drawable/ic_launcher"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/&gt;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 rotWithShape="1">
          <a:blip r:embed="rId3">
            <a:alphaModFix/>
          </a:blip>
          <a:srcRect b="32195" l="1229" r="33006" t="17593"/>
          <a:stretch/>
        </p:blipFill>
        <p:spPr>
          <a:xfrm>
            <a:off x="6089100" y="1535225"/>
            <a:ext cx="27432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 rotWithShape="1">
          <a:blip r:embed="rId4">
            <a:alphaModFix/>
          </a:blip>
          <a:srcRect b="27365" l="1723" r="33002" t="16649"/>
          <a:stretch/>
        </p:blipFill>
        <p:spPr>
          <a:xfrm>
            <a:off x="6251025" y="3473450"/>
            <a:ext cx="2581275" cy="10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Дополнительная информация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 полной информацией обращайтесь к официальной </a:t>
            </a:r>
            <a:r>
              <a:rPr lang="ru" u="sng">
                <a:solidFill>
                  <a:schemeClr val="hlink"/>
                </a:solidFill>
                <a:hlinkClick r:id="rId3"/>
              </a:rPr>
              <a:t>документации API android.widget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Другие визуальные элементы: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ru" u="sng">
                <a:solidFill>
                  <a:schemeClr val="hlink"/>
                </a:solidFill>
                <a:hlinkClick r:id="rId4"/>
              </a:rPr>
              <a:t>Переключатели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u="sng">
                <a:solidFill>
                  <a:schemeClr val="hlink"/>
                </a:solidFill>
                <a:hlinkClick r:id="rId5"/>
              </a:rPr>
              <a:t>Выпадающие меню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u="sng">
                <a:solidFill>
                  <a:schemeClr val="hlink"/>
                </a:solidFill>
                <a:hlinkClick r:id="rId6"/>
              </a:rPr>
              <a:t>Выбор даты и времени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u="sng">
                <a:solidFill>
                  <a:schemeClr val="hlink"/>
                </a:solidFill>
                <a:hlinkClick r:id="rId7"/>
              </a:rPr>
              <a:t>Плавающие кнопки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контейнеры?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Совместное отображение элементов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Различные верстки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Параметры макета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layout_width и layout_height</a:t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0125" y="1470025"/>
            <a:ext cx="5972175" cy="27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LinearLayout - вертикальное расположение</a:t>
            </a:r>
            <a:endParaRPr/>
          </a:p>
        </p:txBody>
      </p:sp>
      <p:sp>
        <p:nvSpPr>
          <p:cNvPr id="150" name="Google Shape;15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xmlns:android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"http://schemas.android.com/apk/res/android"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"match_parent"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"match_parent"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android:orientation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"vertical"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"@+id/button4"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"Button"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/&gt;</a:t>
            </a:r>
            <a:endParaRPr sz="14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... /&gt;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Button 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... /&gt;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51" name="Google Shape;151;p27"/>
          <p:cNvPicPr preferRelativeResize="0"/>
          <p:nvPr/>
        </p:nvPicPr>
        <p:blipFill rotWithShape="1">
          <a:blip r:embed="rId3">
            <a:alphaModFix/>
          </a:blip>
          <a:srcRect b="69705" l="0" r="0" t="0"/>
          <a:stretch/>
        </p:blipFill>
        <p:spPr>
          <a:xfrm>
            <a:off x="4966175" y="1860425"/>
            <a:ext cx="3866125" cy="208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LinearLayout - горизонтальное расположение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&lt;?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xml version=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"1.0"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encoding=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lang="ru" sz="14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?&gt;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xmlns:android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endParaRPr sz="14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"http://schemas.android.com/apk/res/android"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"match_parent"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"match_parent"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android:orientation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"horizontal"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"@+id/button4"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"Button"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/&gt;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... /&gt;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Button 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... /&gt;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58" name="Google Shape;158;p28"/>
          <p:cNvPicPr preferRelativeResize="0"/>
          <p:nvPr/>
        </p:nvPicPr>
        <p:blipFill rotWithShape="1">
          <a:blip r:embed="rId3">
            <a:alphaModFix/>
          </a:blip>
          <a:srcRect b="32550" l="0" r="0" t="0"/>
          <a:stretch/>
        </p:blipFill>
        <p:spPr>
          <a:xfrm>
            <a:off x="5727150" y="1152475"/>
            <a:ext cx="3105150" cy="372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Вложенные контейнеры</a:t>
            </a:r>
            <a:endParaRPr/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xmlns:android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"http://schemas.android.com/apk/res/android"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"match_parent"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"match_parent"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android:orientation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"vertical"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android:orientation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"horizontal"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...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android:orientation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"horizontal"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/>
          </a:p>
        </p:txBody>
      </p:sp>
      <p:pic>
        <p:nvPicPr>
          <p:cNvPr id="165" name="Google Shape;1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0525" y="1240300"/>
            <a:ext cx="3105150" cy="55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TableLayout </a:t>
            </a:r>
            <a:endParaRPr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TableLayout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xmlns:android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"http://schemas.android.com/apk/res/android"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android:orientation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"vertical"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TableRow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"match_parent"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"match_parent"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.../&gt;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.../&gt;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TableRow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TableRow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"match_parent"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"match_parent"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.../&gt;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TableRow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TableLayout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baseline="-25000"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2377" l="0" r="0" t="0"/>
          <a:stretch/>
        </p:blipFill>
        <p:spPr>
          <a:xfrm>
            <a:off x="5446050" y="1152475"/>
            <a:ext cx="3386250" cy="40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FrameLayout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FrameLayout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xmlns:android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"http://schemas.android.com/apk/res/android"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"@+id/activity_main"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"match_parent"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"match_parent"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"Hello World!"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android:textSize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"26sp"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"Android Nougat 7.1"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android:textSize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"26sp"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android:layout_marginTop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"5dp"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/&gt;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FrameLayout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79" name="Google Shape;179;p31"/>
          <p:cNvPicPr preferRelativeResize="0"/>
          <p:nvPr/>
        </p:nvPicPr>
        <p:blipFill rotWithShape="1">
          <a:blip r:embed="rId3">
            <a:alphaModFix/>
          </a:blip>
          <a:srcRect b="57551" l="0" r="0" t="0"/>
          <a:stretch/>
        </p:blipFill>
        <p:spPr>
          <a:xfrm>
            <a:off x="4934575" y="1152475"/>
            <a:ext cx="3897725" cy="294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WebView</a:t>
            </a:r>
            <a:endParaRPr/>
          </a:p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WebView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"@+id/webview"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"300dp"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"500dp"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app:layout_constraintBottom_toBottomOf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app:layout_constraintEnd_toEndOf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app:layout_constraintStart_toStartOf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"parent"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app:layout_constraintTop_toTopOf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"parent"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/&gt;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WebView wv = findViewById(R.id.webview);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wv.loadUrl(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"http://google.com"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/>
          </a:p>
        </p:txBody>
      </p:sp>
      <p:pic>
        <p:nvPicPr>
          <p:cNvPr id="186" name="Google Shape;18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6750" y="347663"/>
            <a:ext cx="2495550" cy="444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Другие типы групп элементов</a:t>
            </a:r>
            <a:endParaRPr/>
          </a:p>
        </p:txBody>
      </p: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Подробнее про другие типы контейнеров читайте в </a:t>
            </a:r>
            <a:r>
              <a:rPr lang="ru" u="sng">
                <a:solidFill>
                  <a:schemeClr val="hlink"/>
                </a:solidFill>
                <a:hlinkClick r:id="rId3"/>
              </a:rPr>
              <a:t>документации</a:t>
            </a:r>
            <a:r>
              <a:rPr lang="ru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Распространенные контейнеры: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ru" u="sng">
                <a:solidFill>
                  <a:schemeClr val="hlink"/>
                </a:solidFill>
                <a:hlinkClick r:id="rId4"/>
              </a:rPr>
              <a:t>Relative Layout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u="sng">
                <a:solidFill>
                  <a:schemeClr val="hlink"/>
                </a:solidFill>
                <a:hlinkClick r:id="rId5"/>
              </a:rPr>
              <a:t>ListView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u="sng">
                <a:solidFill>
                  <a:schemeClr val="hlink"/>
                </a:solidFill>
                <a:hlinkClick r:id="rId6"/>
              </a:rPr>
              <a:t>RecyclerView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u="sng">
                <a:solidFill>
                  <a:schemeClr val="hlink"/>
                </a:solidFill>
                <a:hlinkClick r:id="rId7"/>
              </a:rPr>
              <a:t>ConstraintLayout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Единицы измерения Android</a:t>
            </a:r>
            <a:endParaRPr/>
          </a:p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Все единицы измерения заданы в соответствующем файле </a:t>
            </a:r>
            <a:r>
              <a:rPr lang="ru" u="sng">
                <a:solidFill>
                  <a:schemeClr val="hlink"/>
                </a:solidFill>
                <a:hlinkClick r:id="rId3"/>
              </a:rPr>
              <a:t>ресурсов</a:t>
            </a:r>
            <a:r>
              <a:rPr lang="ru"/>
              <a:t>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mm - миллиметры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in - дюймы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px - пиксели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pt - точки - 1/72 дюйма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dp - независимые пиксели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sp - пиксели, приведенные к размеру шрифта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311700" y="445025"/>
            <a:ext cx="883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атрибуты позиционирования элементов</a:t>
            </a:r>
            <a:endParaRPr/>
          </a:p>
        </p:txBody>
      </p:sp>
      <p:sp>
        <p:nvSpPr>
          <p:cNvPr id="204" name="Google Shape;204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Все атрибуты позиционирования работают только в пределах родительского элемента.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layout_width и layout_height - задание ширины и высоты элемента (обязательные)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layout_weight – вес (пропорция) по горизонтали или вертикали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layout_gravity - выравнивание элементов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layout_margin - отступ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type="title"/>
          </p:nvPr>
        </p:nvSpPr>
        <p:spPr>
          <a:xfrm>
            <a:off x="311700" y="445025"/>
            <a:ext cx="8832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Альтернативные ресурсы. Квалификаторы</a:t>
            </a:r>
            <a:endParaRPr/>
          </a:p>
        </p:txBody>
      </p:sp>
      <p:sp>
        <p:nvSpPr>
          <p:cNvPr id="210" name="Google Shape;21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1" name="Google Shape;211;p36"/>
          <p:cNvGraphicFramePr/>
          <p:nvPr/>
        </p:nvGraphicFramePr>
        <p:xfrm>
          <a:off x="311700" y="1152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{8F9B3BB1-F7BE-4F34-BD37-23A0E28CBD85}</a:tableStyleId>
              </a:tblPr>
              <a:tblGrid>
                <a:gridCol w="2359175"/>
                <a:gridCol w="1932500"/>
                <a:gridCol w="4228925"/>
              </a:tblGrid>
              <a:tr h="40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Конфигурация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Квалификаторы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Описание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Язык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en, fr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Выбранный в настройках язык системы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Размер экрана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sw480dp,sw600dp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Минимальная доступная ширина экрана для приложения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1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Ориентация экрана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port, land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Ориентация экрана в пространстве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Плотность пикселей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hdpi, xhdpi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Плотность обычно используется для выбора изображений.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Версия платформы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v7, v11, v21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/>
                        <a:t>Версия ОС может использоваться для стилизации. </a:t>
                      </a:r>
                      <a:endParaRPr/>
                    </a:p>
                  </a:txBody>
                  <a:tcPr marT="63500" marB="63500" marR="127000" marL="1270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Альтернативные ресурсы</a:t>
            </a:r>
            <a:endParaRPr/>
          </a:p>
        </p:txBody>
      </p:sp>
      <p:sp>
        <p:nvSpPr>
          <p:cNvPr id="217" name="Google Shape;217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Более подробно про квалификаторы, конфигурации и альтернативные ресурсы читайте в </a:t>
            </a:r>
            <a:r>
              <a:rPr lang="ru" u="sng">
                <a:solidFill>
                  <a:schemeClr val="hlink"/>
                </a:solidFill>
                <a:hlinkClick r:id="rId3"/>
              </a:rPr>
              <a:t>документации</a:t>
            </a:r>
            <a:r>
              <a:rPr lang="ru"/>
              <a:t>. </a:t>
            </a:r>
            <a:r>
              <a:rPr lang="ru" sz="1050">
                <a:solidFill>
                  <a:srgbClr val="37474F"/>
                </a:solidFill>
                <a:highlight>
                  <a:srgbClr val="F1F3F4"/>
                </a:highlight>
                <a:latin typeface="Roboto Mono"/>
                <a:ea typeface="Roboto Mono"/>
                <a:cs typeface="Roboto Mono"/>
                <a:sym typeface="Roboto Mono"/>
              </a:rPr>
              <a:t>res/</a:t>
            </a:r>
            <a:endParaRPr sz="1050">
              <a:solidFill>
                <a:srgbClr val="37474F"/>
              </a:solidFill>
              <a:highlight>
                <a:srgbClr val="F1F3F4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360000" lvl="0" marL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7474F"/>
                </a:solidFill>
                <a:highlight>
                  <a:srgbClr val="F1F3F4"/>
                </a:highlight>
                <a:latin typeface="Roboto Mono"/>
                <a:ea typeface="Roboto Mono"/>
                <a:cs typeface="Roboto Mono"/>
                <a:sym typeface="Roboto Mono"/>
              </a:rPr>
              <a:t>    drawable/   </a:t>
            </a:r>
            <a:endParaRPr sz="1050">
              <a:solidFill>
                <a:schemeClr val="dk1"/>
              </a:solidFill>
              <a:highlight>
                <a:srgbClr val="F1F3F4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36000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chemeClr val="dk1"/>
                </a:solidFill>
                <a:highlight>
                  <a:srgbClr val="F1F3F4"/>
                </a:highlight>
                <a:latin typeface="Roboto Mono"/>
                <a:ea typeface="Roboto Mono"/>
                <a:cs typeface="Roboto Mono"/>
                <a:sym typeface="Roboto Mono"/>
              </a:rPr>
              <a:t>        icon.png</a:t>
            </a:r>
            <a:endParaRPr sz="1050">
              <a:solidFill>
                <a:schemeClr val="dk1"/>
              </a:solidFill>
              <a:highlight>
                <a:srgbClr val="F1F3F4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36000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chemeClr val="dk1"/>
                </a:solidFill>
                <a:highlight>
                  <a:srgbClr val="F1F3F4"/>
                </a:highlight>
                <a:latin typeface="Roboto Mono"/>
                <a:ea typeface="Roboto Mono"/>
                <a:cs typeface="Roboto Mono"/>
                <a:sym typeface="Roboto Mono"/>
              </a:rPr>
              <a:t>        background.png    </a:t>
            </a:r>
            <a:endParaRPr sz="1050">
              <a:solidFill>
                <a:srgbClr val="37474F"/>
              </a:solidFill>
              <a:highlight>
                <a:srgbClr val="F1F3F4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36000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rgbClr val="37474F"/>
                </a:solidFill>
                <a:highlight>
                  <a:srgbClr val="F1F3F4"/>
                </a:highlight>
                <a:latin typeface="Roboto Mono"/>
                <a:ea typeface="Roboto Mono"/>
                <a:cs typeface="Roboto Mono"/>
                <a:sym typeface="Roboto Mono"/>
              </a:rPr>
              <a:t>    drawable-hdpi/  </a:t>
            </a:r>
            <a:endParaRPr sz="1050">
              <a:solidFill>
                <a:schemeClr val="dk1"/>
              </a:solidFill>
              <a:highlight>
                <a:srgbClr val="F1F3F4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36000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50">
                <a:solidFill>
                  <a:schemeClr val="dk1"/>
                </a:solidFill>
                <a:highlight>
                  <a:srgbClr val="F1F3F4"/>
                </a:highlight>
                <a:latin typeface="Roboto Mono"/>
                <a:ea typeface="Roboto Mono"/>
                <a:cs typeface="Roboto Mono"/>
                <a:sym typeface="Roboto Mono"/>
              </a:rPr>
              <a:t>        icon.png</a:t>
            </a:r>
            <a:endParaRPr sz="1050">
              <a:solidFill>
                <a:schemeClr val="dk1"/>
              </a:solidFill>
              <a:highlight>
                <a:srgbClr val="F1F3F4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360000" lvl="0" marL="0" rtl="0" algn="just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chemeClr val="dk1"/>
                </a:solidFill>
                <a:highlight>
                  <a:srgbClr val="F1F3F4"/>
                </a:highlight>
                <a:latin typeface="Roboto Mono"/>
                <a:ea typeface="Roboto Mono"/>
                <a:cs typeface="Roboto Mono"/>
                <a:sym typeface="Roboto Mono"/>
              </a:rPr>
              <a:t>        background.png </a:t>
            </a:r>
            <a:endParaRPr sz="1050">
              <a:solidFill>
                <a:schemeClr val="dk1"/>
              </a:solidFill>
              <a:highlight>
                <a:srgbClr val="F1F3F4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String image;</a:t>
            </a:r>
            <a:br>
              <a:rPr lang="ru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0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ru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orientation = getResources().getConfiguration().orientation;</a:t>
            </a:r>
            <a:br>
              <a:rPr lang="ru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0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(orientation == Configuration.ORIENTATION_PORTRAIT) {</a:t>
            </a:r>
            <a:br>
              <a:rPr lang="ru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image = </a:t>
            </a:r>
            <a:r>
              <a:rPr lang="ru" sz="10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"image_portrait.png"</a:t>
            </a:r>
            <a:r>
              <a:rPr lang="ru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ru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ru" sz="10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ru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(orientation == Configuration.ORIENTATION_LANDSCAPE) {</a:t>
            </a:r>
            <a:br>
              <a:rPr lang="ru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image = </a:t>
            </a:r>
            <a:r>
              <a:rPr lang="ru" sz="10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"image_landscape.png"</a:t>
            </a:r>
            <a:r>
              <a:rPr lang="ru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ru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0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18" name="Google Shape;218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Код страны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Направление макета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Доступная ширина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Формат экрана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Док-станция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Ночной режим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Доступность сенсорного экрана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Доступность клавиатуры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/>
              <a:t>Аппаратные клавиши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Использование ресурсов</a:t>
            </a:r>
            <a:endParaRPr/>
          </a:p>
        </p:txBody>
      </p:sp>
      <p:sp>
        <p:nvSpPr>
          <p:cNvPr id="224" name="Google Shape;224;p38"/>
          <p:cNvSpPr txBox="1"/>
          <p:nvPr>
            <p:ph idx="1" type="body"/>
          </p:nvPr>
        </p:nvSpPr>
        <p:spPr>
          <a:xfrm>
            <a:off x="146400" y="1152475"/>
            <a:ext cx="468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&lt;?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xml version=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"1.0"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encoding=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lang="ru" sz="12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?&gt;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2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resources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2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"appName"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&gt;Project Name&lt;/</a:t>
            </a:r>
            <a:r>
              <a:rPr lang="ru" sz="12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2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resources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LoadingActivity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2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2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2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onCreate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(Bundle savedInstanceState) {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String applicationName = getString(R.string.appName);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2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//...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5" name="Google Shape;225;p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2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xmlns:android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"http://schemas.android.com/apk/res/android"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android:orientation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"vertical"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"fill_parent"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"fill_parent"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&gt;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2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"fill_parent"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2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"@string/appName"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/&gt;</a:t>
            </a:r>
            <a:b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2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LinearLayout</a:t>
            </a:r>
            <a:r>
              <a:rPr lang="ru" sz="12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2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Использование атрибутов числительных</a:t>
            </a:r>
            <a:endParaRPr/>
          </a:p>
        </p:txBody>
      </p:sp>
      <p:sp>
        <p:nvSpPr>
          <p:cNvPr id="231" name="Google Shape;23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&lt;?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xml version=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"1.0"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encoding=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lang="ru" sz="14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?&gt;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resources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plurals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"numberOfSongsAvailable"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quantity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"one"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&gt;%d song found.&lt;/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quantity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"other"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&gt;%d songs found.&lt;/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plurals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resources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count = getNumberOfSongsAvailable();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Resources res = getResources();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String songsFound = res.getQuantityString(R.plurals.numberOfSongsAvailable, count, count);</a:t>
            </a:r>
            <a:endParaRPr sz="14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Изменение свойств элементов</a:t>
            </a:r>
            <a:endParaRPr/>
          </a:p>
        </p:txBody>
      </p:sp>
      <p:sp>
        <p:nvSpPr>
          <p:cNvPr id="237" name="Google Shape;23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Чтобы обратиться к элементу экрана из кода, нам нужен его ID.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Для этого нам понадобится метод findViewById. Он по ID возвращает View.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TextView myTextView = findViewById(R.id.myText);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Все идентификаторы - тоже ресурсы!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Для каждого объекта существует множество методов и свойств и все они перечислены в документации (например, методы объекта </a:t>
            </a:r>
            <a:r>
              <a:rPr lang="ru" u="sng">
                <a:solidFill>
                  <a:schemeClr val="hlink"/>
                </a:solidFill>
                <a:hlinkClick r:id="rId3"/>
              </a:rPr>
              <a:t>TextView</a:t>
            </a:r>
            <a:r>
              <a:rPr lang="ru"/>
              <a:t>).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Использование стилей и тем</a:t>
            </a:r>
            <a:endParaRPr/>
          </a:p>
        </p:txBody>
      </p:sp>
      <p:sp>
        <p:nvSpPr>
          <p:cNvPr id="243" name="Google Shape;24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&lt;?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xml version=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"1.0"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encoding=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lang="ru" sz="14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?&gt;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resources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"GreenText"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parent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"TextAppearance.AppCompat"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"android:textColor"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&gt;#00FF00&lt;/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resources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TextView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"@style/GreenText"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/&gt;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manifest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application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android:theme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"@style/Theme.AppCompat"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application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manifest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>
              <a:solidFill>
                <a:srgbClr val="333333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Событийная модель Android</a:t>
            </a:r>
            <a:endParaRPr/>
          </a:p>
        </p:txBody>
      </p:sp>
      <p:sp>
        <p:nvSpPr>
          <p:cNvPr id="249" name="Google Shape;24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 системе Android взаимодействие пользователя с программой осуществляется через механизм событий.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/>
              <a:t>Событие</a:t>
            </a:r>
            <a:r>
              <a:rPr lang="ru"/>
              <a:t> - это механизм операционной системы, которые при наступлении определенных условий вызывает заранее заданную функцию обратного вызова, которая называется </a:t>
            </a:r>
            <a:r>
              <a:rPr b="1" lang="ru"/>
              <a:t>обработчик события</a:t>
            </a:r>
            <a:r>
              <a:rPr lang="ru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</a:t>
            </a:r>
            <a:r>
              <a:rPr lang="ru"/>
              <a:t>обытия могут захватываться из определенного элемента пользовательского интерфейса. </a:t>
            </a:r>
            <a:r>
              <a:rPr b="1" lang="ru"/>
              <a:t>Событие всегда связано с определенным объектом</a:t>
            </a:r>
            <a:r>
              <a:rPr lang="ru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 Android SDK присутствует ряд интерфейсов, объявляющих методы обратного вызова, являющиеся обработчиками события. Они называются </a:t>
            </a:r>
            <a:r>
              <a:rPr b="1" lang="ru"/>
              <a:t>приемниками события</a:t>
            </a:r>
            <a:r>
              <a:rPr lang="ru"/>
              <a:t>. У каждого типа события свой приемник.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Виды событий</a:t>
            </a:r>
            <a:endParaRPr/>
          </a:p>
        </p:txBody>
      </p:sp>
      <p:sp>
        <p:nvSpPr>
          <p:cNvPr id="255" name="Google Shape;255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Более подробно про события и обработчики читайте в </a:t>
            </a:r>
            <a:r>
              <a:rPr lang="ru" u="sng">
                <a:solidFill>
                  <a:schemeClr val="hlink"/>
                </a:solidFill>
                <a:hlinkClick r:id="rId3"/>
              </a:rPr>
              <a:t>документации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Основные события ввода: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onClick()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onLongClick()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onFocusChange()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onKey()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onTouch()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onCreateContextMenu()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обработчика события</a:t>
            </a:r>
            <a:endParaRPr/>
          </a:p>
        </p:txBody>
      </p:sp>
      <p:sp>
        <p:nvSpPr>
          <p:cNvPr id="261" name="Google Shape;261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View.OnClickListener oclBtnOk = </a:t>
            </a:r>
            <a:r>
              <a:rPr lang="ru" sz="14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View.OnClickListener() {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(View v) {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4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// Меняем текст в TextView (tvOut)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  tvOut.setText(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"Нажата кнопка ОК"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};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4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// присвоим обработчик кнопке OK (btnOk)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btnOk.setOnClickListener(oclBtnOk);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Один обработчик на несколько событий</a:t>
            </a:r>
            <a:endParaRPr/>
          </a:p>
        </p:txBody>
      </p:sp>
      <p:sp>
        <p:nvSpPr>
          <p:cNvPr id="267" name="Google Shape;267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View.OnClickListener oclBtn = </a:t>
            </a:r>
            <a:r>
              <a:rPr lang="ru" sz="14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View.OnClickListener() {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(View v) {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4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(v.getId()) {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4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R.id.btnOk: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tvOut.setText(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"Нажата кнопка ОК"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ru" sz="14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ru" sz="14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R.id.btnCancel: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tvOut.setText(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"Нажата кнопка Cancel"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</a:t>
            </a:r>
            <a:r>
              <a:rPr lang="ru" sz="14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  }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}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};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btnOk.setOnClickListener(oclBtn);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btnCancel.setOnClickListener(oclBtn);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6"/>
          <p:cNvSpPr txBox="1"/>
          <p:nvPr>
            <p:ph idx="1" type="body"/>
          </p:nvPr>
        </p:nvSpPr>
        <p:spPr>
          <a:xfrm>
            <a:off x="311700" y="199100"/>
            <a:ext cx="8520600" cy="43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MainActivity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AppCompatActivity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1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OnClickListener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TextView tvOut;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Button btnOk;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Button btnCancel;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protected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onCreate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(Bundle savedInstanceState) {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1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super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.onCreate(savedInstanceState);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setContentView(R.layout.activity_main);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tvOut = (TextView) findViewById(R.id.tvOut);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btnOk = (Button) findViewById(R.id.btnOk);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btnCancel = (Button) findViewById(R.id.btnCancel);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btnOk.setOnClickListener(</a:t>
            </a:r>
            <a:r>
              <a:rPr lang="ru" sz="11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btnCancel.setOnClickListener(</a:t>
            </a:r>
            <a:r>
              <a:rPr lang="ru" sz="11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969896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onClick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(View v) {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1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(v.getId()) {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1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R.id.btnOk: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  tvOut.setText(</a:t>
            </a:r>
            <a:r>
              <a:rPr lang="ru" sz="11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"Нажата кнопка ОК"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1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1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case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R.id.btnCancel: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  tvOut.setText(</a:t>
            </a:r>
            <a:r>
              <a:rPr lang="ru" sz="11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"Нажата кнопка Cancel"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ru" sz="1100">
                <a:solidFill>
                  <a:srgbClr val="A71D5D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}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b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1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Задание обработчика в свойствах объекта</a:t>
            </a:r>
            <a:endParaRPr/>
          </a:p>
        </p:txBody>
      </p:sp>
      <p:sp>
        <p:nvSpPr>
          <p:cNvPr id="279" name="Google Shape;279;p47"/>
          <p:cNvSpPr txBox="1"/>
          <p:nvPr>
            <p:ph idx="1" type="body"/>
          </p:nvPr>
        </p:nvSpPr>
        <p:spPr>
          <a:xfrm>
            <a:off x="311700" y="1017725"/>
            <a:ext cx="85206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"@+id/btnOk"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"100dp"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android:layout_gravity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"center_horizontal"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android:onClick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"onClickStart"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"OK"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&lt;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"@+id/btnCancel"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android:layout_width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"100dp"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android:layout_height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"wrap_content"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android:layout_gravity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"center_horizontal"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android:onClick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"onClickStart"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ru" sz="1400">
                <a:solidFill>
                  <a:srgbClr val="795DA3"/>
                </a:solidFill>
                <a:latin typeface="Consolas"/>
                <a:ea typeface="Consolas"/>
                <a:cs typeface="Consolas"/>
                <a:sym typeface="Consolas"/>
              </a:rPr>
              <a:t>android:text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400">
                <a:solidFill>
                  <a:srgbClr val="DF5000"/>
                </a:solidFill>
                <a:latin typeface="Consolas"/>
                <a:ea typeface="Consolas"/>
                <a:cs typeface="Consolas"/>
                <a:sym typeface="Consolas"/>
              </a:rPr>
              <a:t>"Cancel"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b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&lt;/</a:t>
            </a:r>
            <a:r>
              <a:rPr lang="ru" sz="1400">
                <a:solidFill>
                  <a:srgbClr val="63A35C"/>
                </a:solidFill>
                <a:latin typeface="Consolas"/>
                <a:ea typeface="Consolas"/>
                <a:cs typeface="Consolas"/>
                <a:sym typeface="Consolas"/>
              </a:rPr>
              <a:t>Button</a:t>
            </a:r>
            <a:r>
              <a:rPr lang="ru" sz="140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 следующей лекции</a:t>
            </a:r>
            <a:endParaRPr/>
          </a:p>
        </p:txBody>
      </p:sp>
      <p:sp>
        <p:nvSpPr>
          <p:cNvPr id="285" name="Google Shape;285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Жизненный цикл активности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Создание и вызов активности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Явные и неявные интенты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Вызов системных активностей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Манифест приложения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Разрешения приложения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